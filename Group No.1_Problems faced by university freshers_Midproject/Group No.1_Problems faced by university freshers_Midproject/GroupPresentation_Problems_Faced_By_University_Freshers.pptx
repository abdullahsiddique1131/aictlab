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308" r:id="rId2"/>
    <p:sldId id="256" r:id="rId3"/>
    <p:sldId id="305" r:id="rId4"/>
    <p:sldId id="306" r:id="rId5"/>
    <p:sldId id="258" r:id="rId6"/>
    <p:sldId id="259" r:id="rId7"/>
    <p:sldId id="260" r:id="rId8"/>
    <p:sldId id="261" r:id="rId9"/>
    <p:sldId id="262" r:id="rId10"/>
    <p:sldId id="263" r:id="rId11"/>
    <p:sldId id="264" r:id="rId12"/>
    <p:sldId id="266" r:id="rId13"/>
    <p:sldId id="310" r:id="rId14"/>
    <p:sldId id="267"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FE4"/>
    <a:srgbClr val="EAE8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07A4D9-CAB5-42AD-8C04-839441FC1B2B}" v="132" dt="2025-11-19T15:48:07.658"/>
    <p1510:client id="{DED8663E-9031-4657-A1F1-14D879EA1C38}" v="461" dt="2025-11-19T15:12:01.0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a:extLst>
            <a:ext uri="{FF2B5EF4-FFF2-40B4-BE49-F238E27FC236}">
              <a16:creationId xmlns:a16="http://schemas.microsoft.com/office/drawing/2014/main" id="{16882628-4911-F1AE-0998-18DA72C6E3D8}"/>
            </a:ext>
          </a:extLst>
        </p:cNvPr>
        <p:cNvGrpSpPr/>
        <p:nvPr/>
      </p:nvGrpSpPr>
      <p:grpSpPr>
        <a:xfrm>
          <a:off x="0" y="0"/>
          <a:ext cx="0" cy="0"/>
          <a:chOff x="0" y="0"/>
          <a:chExt cx="0" cy="0"/>
        </a:xfrm>
      </p:grpSpPr>
      <p:sp>
        <p:nvSpPr>
          <p:cNvPr id="218" name="Google Shape;218;p12:notes">
            <a:extLst>
              <a:ext uri="{FF2B5EF4-FFF2-40B4-BE49-F238E27FC236}">
                <a16:creationId xmlns:a16="http://schemas.microsoft.com/office/drawing/2014/main" id="{DCC6743F-4744-C35A-1ED2-D68534D5DE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2:notes">
            <a:extLst>
              <a:ext uri="{FF2B5EF4-FFF2-40B4-BE49-F238E27FC236}">
                <a16:creationId xmlns:a16="http://schemas.microsoft.com/office/drawing/2014/main" id="{B4361EF4-B419-DAAC-BBD0-1F2A51A039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1744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34C65FAE-0A52-760A-CE7F-A1304C1C5941}"/>
            </a:ext>
          </a:extLst>
        </p:cNvPr>
        <p:cNvGrpSpPr/>
        <p:nvPr/>
      </p:nvGrpSpPr>
      <p:grpSpPr>
        <a:xfrm>
          <a:off x="0" y="0"/>
          <a:ext cx="0" cy="0"/>
          <a:chOff x="0" y="0"/>
          <a:chExt cx="0" cy="0"/>
        </a:xfrm>
      </p:grpSpPr>
      <p:sp>
        <p:nvSpPr>
          <p:cNvPr id="90" name="Google Shape;90;p2:notes">
            <a:extLst>
              <a:ext uri="{FF2B5EF4-FFF2-40B4-BE49-F238E27FC236}">
                <a16:creationId xmlns:a16="http://schemas.microsoft.com/office/drawing/2014/main" id="{B8F63331-8A4E-23B7-3D3A-1FC1DE6647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a:extLst>
              <a:ext uri="{FF2B5EF4-FFF2-40B4-BE49-F238E27FC236}">
                <a16:creationId xmlns:a16="http://schemas.microsoft.com/office/drawing/2014/main" id="{D6051BAD-0841-62B7-4B08-C54CEDDD16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7986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8" name="Google Shape;15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amma.app/?utm_source=made-with-gamma" TargetMode="Externa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0">
          <a:extLst>
            <a:ext uri="{FF2B5EF4-FFF2-40B4-BE49-F238E27FC236}">
              <a16:creationId xmlns:a16="http://schemas.microsoft.com/office/drawing/2014/main" id="{912B9361-6B60-0508-A469-1E0EE46C65BA}"/>
            </a:ext>
          </a:extLst>
        </p:cNvPr>
        <p:cNvGrpSpPr/>
        <p:nvPr/>
      </p:nvGrpSpPr>
      <p:grpSpPr>
        <a:xfrm>
          <a:off x="0" y="0"/>
          <a:ext cx="0" cy="0"/>
          <a:chOff x="0" y="0"/>
          <a:chExt cx="0" cy="0"/>
        </a:xfrm>
      </p:grpSpPr>
      <p:pic>
        <p:nvPicPr>
          <p:cNvPr id="221" name="Google Shape;221;p24" descr="image.png">
            <a:extLst>
              <a:ext uri="{FF2B5EF4-FFF2-40B4-BE49-F238E27FC236}">
                <a16:creationId xmlns:a16="http://schemas.microsoft.com/office/drawing/2014/main" id="{44CC30D4-4303-0C8D-A84D-90052C6CF47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 name="Picture 2" descr="A white rectangular frame with blue border&#10;&#10;AI-generated content may be incorrect.">
            <a:extLst>
              <a:ext uri="{FF2B5EF4-FFF2-40B4-BE49-F238E27FC236}">
                <a16:creationId xmlns:a16="http://schemas.microsoft.com/office/drawing/2014/main" id="{9EBFB4E6-AB04-71E2-4B90-9EA337C05366}"/>
              </a:ext>
            </a:extLst>
          </p:cNvPr>
          <p:cNvPicPr>
            <a:picLocks noChangeAspect="1"/>
          </p:cNvPicPr>
          <p:nvPr/>
        </p:nvPicPr>
        <p:blipFill>
          <a:blip r:embed="rId4"/>
          <a:stretch>
            <a:fillRect/>
          </a:stretch>
        </p:blipFill>
        <p:spPr>
          <a:xfrm>
            <a:off x="0" y="0"/>
            <a:ext cx="12192000" cy="6858000"/>
          </a:xfrm>
          <a:prstGeom prst="rect">
            <a:avLst/>
          </a:prstGeom>
        </p:spPr>
      </p:pic>
      <p:pic>
        <p:nvPicPr>
          <p:cNvPr id="5" name="Picture 4" descr="A black background with white text&#10;&#10;AI-generated content may be incorrect.">
            <a:extLst>
              <a:ext uri="{FF2B5EF4-FFF2-40B4-BE49-F238E27FC236}">
                <a16:creationId xmlns:a16="http://schemas.microsoft.com/office/drawing/2014/main" id="{18897B88-0839-2B51-B580-08B6EC962AF5}"/>
              </a:ext>
            </a:extLst>
          </p:cNvPr>
          <p:cNvPicPr>
            <a:picLocks noChangeAspect="1"/>
          </p:cNvPicPr>
          <p:nvPr/>
        </p:nvPicPr>
        <p:blipFill>
          <a:blip r:embed="rId5"/>
          <a:stretch>
            <a:fillRect/>
          </a:stretch>
        </p:blipFill>
        <p:spPr>
          <a:xfrm>
            <a:off x="3889247" y="1222249"/>
            <a:ext cx="4413506" cy="4413502"/>
          </a:xfrm>
          <a:prstGeom prst="rect">
            <a:avLst/>
          </a:prstGeom>
        </p:spPr>
      </p:pic>
    </p:spTree>
    <p:extLst>
      <p:ext uri="{BB962C8B-B14F-4D97-AF65-F5344CB8AC3E}">
        <p14:creationId xmlns:p14="http://schemas.microsoft.com/office/powerpoint/2010/main" val="13700961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6858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6F4F4"/>
            </a:solidFill>
            <a:ln w="12700">
              <a:solidFill>
                <a:srgbClr val="000000"/>
              </a:solidFill>
            </a:ln>
          </p:spPr>
          <p:txBody>
            <a:bodyPr/>
            <a:lstStyle/>
            <a:p>
              <a:endParaRPr lang="en-US" sz="933"/>
            </a:p>
          </p:txBody>
        </p:sp>
      </p:grpSp>
      <p:grpSp>
        <p:nvGrpSpPr>
          <p:cNvPr id="4" name="Group 4"/>
          <p:cNvGrpSpPr/>
          <p:nvPr/>
        </p:nvGrpSpPr>
        <p:grpSpPr>
          <a:xfrm>
            <a:off x="0" y="0"/>
            <a:ext cx="12192000" cy="6858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solidFill>
            <a:ln w="12700">
              <a:solidFill>
                <a:srgbClr val="000000"/>
              </a:solidFill>
            </a:ln>
          </p:spPr>
          <p:txBody>
            <a:bodyPr/>
            <a:lstStyle/>
            <a:p>
              <a:endParaRPr lang="en-US" sz="933"/>
            </a:p>
          </p:txBody>
        </p:sp>
      </p:grpSp>
      <p:grpSp>
        <p:nvGrpSpPr>
          <p:cNvPr id="6" name="Group 6"/>
          <p:cNvGrpSpPr/>
          <p:nvPr/>
        </p:nvGrpSpPr>
        <p:grpSpPr>
          <a:xfrm>
            <a:off x="10699346" y="6457950"/>
            <a:ext cx="1435504" cy="342900"/>
            <a:chOff x="0" y="0"/>
            <a:chExt cx="2871008" cy="685800"/>
          </a:xfrm>
        </p:grpSpPr>
        <p:sp>
          <p:nvSpPr>
            <p:cNvPr id="7" name="Freeform 7" descr="preencoded.png">
              <a:hlinkClick r:id="rId2" tooltip="https://gamma.app/?utm_source=made-with-gamma"/>
            </p:cNvPr>
            <p:cNvSpPr/>
            <p:nvPr/>
          </p:nvSpPr>
          <p:spPr>
            <a:xfrm>
              <a:off x="0" y="0"/>
              <a:ext cx="2870962" cy="685800"/>
            </a:xfrm>
            <a:custGeom>
              <a:avLst/>
              <a:gdLst/>
              <a:ahLst/>
              <a:cxnLst/>
              <a:rect l="l" t="t" r="r" b="b"/>
              <a:pathLst>
                <a:path w="2870962" h="685800">
                  <a:moveTo>
                    <a:pt x="0" y="0"/>
                  </a:moveTo>
                  <a:lnTo>
                    <a:pt x="2870962" y="0"/>
                  </a:lnTo>
                  <a:lnTo>
                    <a:pt x="2870962" y="685800"/>
                  </a:lnTo>
                  <a:lnTo>
                    <a:pt x="0" y="685800"/>
                  </a:lnTo>
                  <a:lnTo>
                    <a:pt x="0" y="0"/>
                  </a:lnTo>
                  <a:close/>
                </a:path>
              </a:pathLst>
            </a:custGeom>
            <a:blipFill>
              <a:blip r:embed="rId3"/>
              <a:stretch>
                <a:fillRect r="-1"/>
              </a:stretch>
            </a:blipFill>
          </p:spPr>
          <p:txBody>
            <a:bodyPr/>
            <a:lstStyle/>
            <a:p>
              <a:endParaRPr lang="en-US" sz="933"/>
            </a:p>
          </p:txBody>
        </p:sp>
      </p:grpSp>
      <p:grpSp>
        <p:nvGrpSpPr>
          <p:cNvPr id="8" name="Group 8"/>
          <p:cNvGrpSpPr/>
          <p:nvPr/>
        </p:nvGrpSpPr>
        <p:grpSpPr>
          <a:xfrm>
            <a:off x="0" y="0"/>
            <a:ext cx="12192000" cy="6858000"/>
            <a:chOff x="0" y="0"/>
            <a:chExt cx="24384000" cy="13716000"/>
          </a:xfrm>
        </p:grpSpPr>
        <p:sp>
          <p:nvSpPr>
            <p:cNvPr id="9" name="Freeform 9"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stretch>
                <a:fillRect/>
              </a:stretch>
            </a:blipFill>
          </p:spPr>
          <p:txBody>
            <a:bodyPr/>
            <a:lstStyle/>
            <a:p>
              <a:endParaRPr lang="en-US" sz="933"/>
            </a:p>
          </p:txBody>
        </p:sp>
      </p:grpSp>
      <p:sp>
        <p:nvSpPr>
          <p:cNvPr id="10" name="TextBox 10"/>
          <p:cNvSpPr txBox="1"/>
          <p:nvPr/>
        </p:nvSpPr>
        <p:spPr>
          <a:xfrm>
            <a:off x="418215" y="3409950"/>
            <a:ext cx="6297018" cy="1140569"/>
          </a:xfrm>
          <a:prstGeom prst="rect">
            <a:avLst/>
          </a:prstGeom>
        </p:spPr>
        <p:txBody>
          <a:bodyPr lIns="0" tIns="0" rIns="0" bIns="0" rtlCol="0" anchor="t">
            <a:spAutoFit/>
          </a:bodyPr>
          <a:lstStyle/>
          <a:p>
            <a:pPr>
              <a:lnSpc>
                <a:spcPts val="4625"/>
              </a:lnSpc>
            </a:pPr>
            <a:r>
              <a:rPr lang="en-US" sz="3708" b="1">
                <a:latin typeface="Inter Bold"/>
                <a:ea typeface="Inter Bold"/>
                <a:cs typeface="Inter Bold"/>
                <a:sym typeface="Inter Bold"/>
              </a:rPr>
              <a:t>Problems Faced by University Freshers</a:t>
            </a:r>
          </a:p>
        </p:txBody>
      </p:sp>
      <p:sp>
        <p:nvSpPr>
          <p:cNvPr id="11" name="TextBox 11"/>
          <p:cNvSpPr txBox="1"/>
          <p:nvPr/>
        </p:nvSpPr>
        <p:spPr>
          <a:xfrm>
            <a:off x="418215" y="4963068"/>
            <a:ext cx="6297018" cy="274755"/>
          </a:xfrm>
          <a:prstGeom prst="rect">
            <a:avLst/>
          </a:prstGeom>
        </p:spPr>
        <p:txBody>
          <a:bodyPr lIns="0" tIns="0" rIns="0" bIns="0" rtlCol="0" anchor="t">
            <a:spAutoFit/>
          </a:bodyPr>
          <a:lstStyle/>
          <a:p>
            <a:pPr>
              <a:lnSpc>
                <a:spcPts val="2375"/>
              </a:lnSpc>
            </a:pPr>
            <a:r>
              <a:rPr lang="en-US" sz="1458">
                <a:solidFill>
                  <a:srgbClr val="272525"/>
                </a:solidFill>
                <a:latin typeface="Inter"/>
                <a:ea typeface="Inter"/>
                <a:cs typeface="Inter"/>
                <a:sym typeface="Inter"/>
              </a:rPr>
              <a:t>A Survey Report and Analysis</a:t>
            </a:r>
          </a:p>
        </p:txBody>
      </p:sp>
      <p:grpSp>
        <p:nvGrpSpPr>
          <p:cNvPr id="12" name="Group 12"/>
          <p:cNvGrpSpPr/>
          <p:nvPr/>
        </p:nvGrpSpPr>
        <p:grpSpPr>
          <a:xfrm>
            <a:off x="1095153" y="489098"/>
            <a:ext cx="1913861" cy="1817601"/>
            <a:chOff x="0" y="0"/>
            <a:chExt cx="3827722" cy="3635202"/>
          </a:xfrm>
        </p:grpSpPr>
        <p:sp>
          <p:nvSpPr>
            <p:cNvPr id="13" name="Freeform 13"/>
            <p:cNvSpPr/>
            <p:nvPr/>
          </p:nvSpPr>
          <p:spPr>
            <a:xfrm>
              <a:off x="0" y="0"/>
              <a:ext cx="3827780" cy="3635248"/>
            </a:xfrm>
            <a:custGeom>
              <a:avLst/>
              <a:gdLst/>
              <a:ahLst/>
              <a:cxnLst/>
              <a:rect l="l" t="t" r="r" b="b"/>
              <a:pathLst>
                <a:path w="3827780" h="3635248">
                  <a:moveTo>
                    <a:pt x="0" y="0"/>
                  </a:moveTo>
                  <a:lnTo>
                    <a:pt x="3827780" y="0"/>
                  </a:lnTo>
                  <a:lnTo>
                    <a:pt x="3827780" y="3635248"/>
                  </a:lnTo>
                  <a:lnTo>
                    <a:pt x="0" y="3635248"/>
                  </a:lnTo>
                  <a:lnTo>
                    <a:pt x="0" y="0"/>
                  </a:lnTo>
                  <a:close/>
                </a:path>
              </a:pathLst>
            </a:custGeom>
            <a:blipFill>
              <a:blip r:embed="rId5"/>
              <a:stretch>
                <a:fillRect r="1" b="-4587"/>
              </a:stretch>
            </a:blipFill>
          </p:spPr>
          <p:txBody>
            <a:bodyPr/>
            <a:lstStyle/>
            <a:p>
              <a:endParaRPr lang="en-US" sz="933"/>
            </a:p>
          </p:txBody>
        </p:sp>
      </p:grpSp>
      <p:grpSp>
        <p:nvGrpSpPr>
          <p:cNvPr id="14" name="Group 14"/>
          <p:cNvGrpSpPr/>
          <p:nvPr/>
        </p:nvGrpSpPr>
        <p:grpSpPr>
          <a:xfrm>
            <a:off x="8084820" y="237744"/>
            <a:ext cx="3886200" cy="5829300"/>
            <a:chOff x="0" y="0"/>
            <a:chExt cx="7772400" cy="11658600"/>
          </a:xfrm>
        </p:grpSpPr>
        <p:sp>
          <p:nvSpPr>
            <p:cNvPr id="15" name="Freeform 15" descr="A cartoon of a child sitting at a computer  AI-generated content may be incorrect."/>
            <p:cNvSpPr/>
            <p:nvPr/>
          </p:nvSpPr>
          <p:spPr>
            <a:xfrm>
              <a:off x="0" y="0"/>
              <a:ext cx="7772400" cy="11658600"/>
            </a:xfrm>
            <a:custGeom>
              <a:avLst/>
              <a:gdLst/>
              <a:ahLst/>
              <a:cxnLst/>
              <a:rect l="l" t="t" r="r" b="b"/>
              <a:pathLst>
                <a:path w="7772400" h="11658600">
                  <a:moveTo>
                    <a:pt x="0" y="0"/>
                  </a:moveTo>
                  <a:lnTo>
                    <a:pt x="7772400" y="0"/>
                  </a:lnTo>
                  <a:lnTo>
                    <a:pt x="7772400" y="11658600"/>
                  </a:lnTo>
                  <a:lnTo>
                    <a:pt x="0" y="11658600"/>
                  </a:lnTo>
                  <a:lnTo>
                    <a:pt x="0" y="0"/>
                  </a:lnTo>
                  <a:close/>
                </a:path>
              </a:pathLst>
            </a:custGeom>
            <a:blipFill>
              <a:blip r:embed="rId6"/>
              <a:stretch>
                <a:fillRect/>
              </a:stretch>
            </a:blipFill>
          </p:spPr>
          <p:txBody>
            <a:bodyPr/>
            <a:lstStyle/>
            <a:p>
              <a:endParaRPr lang="en-US" sz="933"/>
            </a:p>
          </p:txBody>
        </p:sp>
      </p:grpSp>
    </p:spTree>
  </p:cSld>
  <p:clrMapOvr>
    <a:masterClrMapping/>
  </p:clrMapOvr>
  <mc:AlternateContent xmlns:mc="http://schemas.openxmlformats.org/markup-compatibility/2006">
    <mc:Choice xmlns:p14="http://schemas.microsoft.com/office/powerpoint/2010/main" Requires="p14">
      <p:transition spd="slow" p14:dur="225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Shape 92">
          <a:extLst>
            <a:ext uri="{FF2B5EF4-FFF2-40B4-BE49-F238E27FC236}">
              <a16:creationId xmlns:a16="http://schemas.microsoft.com/office/drawing/2014/main" id="{AF1A1B75-80AE-F6E7-CC2B-8FC53F0D5CD5}"/>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909D8F7F-BF0C-F246-246C-FB5C1176F095}"/>
              </a:ext>
            </a:extLst>
          </p:cNvPr>
          <p:cNvSpPr txBox="1"/>
          <p:nvPr/>
        </p:nvSpPr>
        <p:spPr>
          <a:xfrm>
            <a:off x="571500" y="2018482"/>
            <a:ext cx="11049000" cy="492443"/>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solidFill>
                  <a:srgbClr val="005088"/>
                </a:solidFill>
                <a:latin typeface="Times New Roman" panose="02020603050405020304" pitchFamily="18" charset="0"/>
                <a:ea typeface="DM Sans"/>
                <a:cs typeface="Times New Roman" panose="02020603050405020304" pitchFamily="18" charset="0"/>
                <a:sym typeface="DM Sans"/>
              </a:rPr>
              <a:t>Submitted in partial fulfillment of the requirements for </a:t>
            </a:r>
            <a:r>
              <a:rPr lang="en-US" sz="2000" b="1" i="0" u="none" strike="noStrike" cap="none" dirty="0">
                <a:solidFill>
                  <a:srgbClr val="005088"/>
                </a:solidFill>
                <a:latin typeface="Times New Roman" panose="02020603050405020304" pitchFamily="18" charset="0"/>
                <a:ea typeface="DM Sans"/>
                <a:cs typeface="Times New Roman" panose="02020603050405020304" pitchFamily="18" charset="0"/>
                <a:sym typeface="DM Sans"/>
              </a:rPr>
              <a:t>AICT</a:t>
            </a:r>
            <a:r>
              <a:rPr lang="en-US" sz="1800" b="1" i="0" u="none" strike="noStrike" cap="none" dirty="0">
                <a:solidFill>
                  <a:srgbClr val="005088"/>
                </a:solidFill>
                <a:latin typeface="Times New Roman" panose="02020603050405020304" pitchFamily="18" charset="0"/>
                <a:ea typeface="DM Sans"/>
                <a:cs typeface="Times New Roman" panose="02020603050405020304" pitchFamily="18" charset="0"/>
                <a:sym typeface="DM Sans"/>
              </a:rPr>
              <a:t>.</a:t>
            </a:r>
            <a:endParaRPr dirty="0">
              <a:latin typeface="Times New Roman" panose="02020603050405020304" pitchFamily="18" charset="0"/>
              <a:cs typeface="Times New Roman" panose="02020603050405020304" pitchFamily="18" charset="0"/>
            </a:endParaRPr>
          </a:p>
        </p:txBody>
      </p:sp>
      <p:sp>
        <p:nvSpPr>
          <p:cNvPr id="96" name="Google Shape;96;p14">
            <a:extLst>
              <a:ext uri="{FF2B5EF4-FFF2-40B4-BE49-F238E27FC236}">
                <a16:creationId xmlns:a16="http://schemas.microsoft.com/office/drawing/2014/main" id="{79830D95-547F-1AF9-ABE4-6F8A9241C9B4}"/>
              </a:ext>
            </a:extLst>
          </p:cNvPr>
          <p:cNvSpPr txBox="1"/>
          <p:nvPr/>
        </p:nvSpPr>
        <p:spPr>
          <a:xfrm>
            <a:off x="295275" y="2986087"/>
            <a:ext cx="11601450" cy="6191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Instructor: Miss Ramsha Khalid</a:t>
            </a:r>
            <a:endParaRPr dirty="0">
              <a:latin typeface="Times New Roman" panose="02020603050405020304" pitchFamily="18" charset="0"/>
              <a:cs typeface="Times New Roman" panose="02020603050405020304" pitchFamily="18" charset="0"/>
            </a:endParaRPr>
          </a:p>
        </p:txBody>
      </p:sp>
      <p:sp>
        <p:nvSpPr>
          <p:cNvPr id="97" name="Google Shape;97;p14">
            <a:extLst>
              <a:ext uri="{FF2B5EF4-FFF2-40B4-BE49-F238E27FC236}">
                <a16:creationId xmlns:a16="http://schemas.microsoft.com/office/drawing/2014/main" id="{BC7D03A8-C2B5-AC62-D8C7-4B1C8D994CB7}"/>
              </a:ext>
            </a:extLst>
          </p:cNvPr>
          <p:cNvSpPr txBox="1"/>
          <p:nvPr/>
        </p:nvSpPr>
        <p:spPr>
          <a:xfrm>
            <a:off x="571500" y="3795712"/>
            <a:ext cx="11049000" cy="393954"/>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b="1" i="0" u="none" strike="noStrike" cap="none" dirty="0">
                <a:solidFill>
                  <a:srgbClr val="005088"/>
                </a:solidFill>
                <a:latin typeface="DM Sans"/>
                <a:ea typeface="DM Sans"/>
                <a:cs typeface="DM Sans"/>
                <a:sym typeface="DM Sans"/>
              </a:rPr>
              <a:t>Date of Submission: </a:t>
            </a:r>
            <a:r>
              <a:rPr lang="en-US" sz="1500" b="0" i="0" u="none" strike="noStrike" cap="none" dirty="0">
                <a:solidFill>
                  <a:srgbClr val="005088"/>
                </a:solidFill>
                <a:latin typeface="DM Sans"/>
                <a:ea typeface="DM Sans"/>
                <a:cs typeface="DM Sans"/>
                <a:sym typeface="DM Sans"/>
              </a:rPr>
              <a:t>November </a:t>
            </a:r>
            <a:r>
              <a:rPr lang="en-US" sz="1500" dirty="0">
                <a:solidFill>
                  <a:srgbClr val="005088"/>
                </a:solidFill>
                <a:latin typeface="DM Sans"/>
                <a:ea typeface="DM Sans"/>
                <a:cs typeface="DM Sans"/>
                <a:sym typeface="DM Sans"/>
              </a:rPr>
              <a:t>20</a:t>
            </a:r>
            <a:r>
              <a:rPr lang="en-US" sz="1500" b="0" i="0" u="none" strike="noStrike" cap="none" dirty="0">
                <a:solidFill>
                  <a:srgbClr val="005088"/>
                </a:solidFill>
                <a:latin typeface="DM Sans"/>
                <a:ea typeface="DM Sans"/>
                <a:cs typeface="DM Sans"/>
                <a:sym typeface="DM Sans"/>
              </a:rPr>
              <a:t>, 2025</a:t>
            </a:r>
            <a:endParaRPr dirty="0"/>
          </a:p>
        </p:txBody>
      </p:sp>
      <p:sp>
        <p:nvSpPr>
          <p:cNvPr id="98" name="Google Shape;98;p14">
            <a:extLst>
              <a:ext uri="{FF2B5EF4-FFF2-40B4-BE49-F238E27FC236}">
                <a16:creationId xmlns:a16="http://schemas.microsoft.com/office/drawing/2014/main" id="{E921F517-8053-122A-76F2-2746706AE6BD}"/>
              </a:ext>
            </a:extLst>
          </p:cNvPr>
          <p:cNvSpPr txBox="1"/>
          <p:nvPr/>
        </p:nvSpPr>
        <p:spPr>
          <a:xfrm>
            <a:off x="438149" y="4489703"/>
            <a:ext cx="11049000" cy="68942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2800" b="1" i="0" u="none" strike="noStrike" cap="none" dirty="0">
                <a:solidFill>
                  <a:srgbClr val="005088"/>
                </a:solidFill>
                <a:latin typeface="Times New Roman" panose="02020603050405020304" pitchFamily="18" charset="0"/>
                <a:ea typeface="DM Sans"/>
                <a:cs typeface="Times New Roman" panose="02020603050405020304" pitchFamily="18" charset="0"/>
                <a:sym typeface="DM Sans"/>
              </a:rPr>
              <a:t>University of Engineering and Technology, Lahore</a:t>
            </a:r>
            <a:endParaRPr sz="2000" b="1" dirty="0">
              <a:latin typeface="Times New Roman" panose="02020603050405020304" pitchFamily="18" charset="0"/>
              <a:cs typeface="Times New Roman" panose="02020603050405020304" pitchFamily="18" charset="0"/>
            </a:endParaRPr>
          </a:p>
        </p:txBody>
      </p:sp>
      <p:pic>
        <p:nvPicPr>
          <p:cNvPr id="2" name="Google Shape;85;p13" descr="image.png">
            <a:extLst>
              <a:ext uri="{FF2B5EF4-FFF2-40B4-BE49-F238E27FC236}">
                <a16:creationId xmlns:a16="http://schemas.microsoft.com/office/drawing/2014/main" id="{E03F387F-2465-058F-7BCB-BABE08496694}"/>
              </a:ext>
            </a:extLst>
          </p:cNvPr>
          <p:cNvPicPr preferRelativeResize="0"/>
          <p:nvPr/>
        </p:nvPicPr>
        <p:blipFill rotWithShape="1">
          <a:blip r:embed="rId3">
            <a:alphaModFix/>
          </a:blip>
          <a:srcRect/>
          <a:stretch/>
        </p:blipFill>
        <p:spPr>
          <a:xfrm>
            <a:off x="5162550" y="510752"/>
            <a:ext cx="1600199" cy="1412480"/>
          </a:xfrm>
          <a:prstGeom prst="rect">
            <a:avLst/>
          </a:prstGeom>
          <a:noFill/>
          <a:ln>
            <a:noFill/>
          </a:ln>
        </p:spPr>
      </p:pic>
    </p:spTree>
    <p:extLst>
      <p:ext uri="{BB962C8B-B14F-4D97-AF65-F5344CB8AC3E}">
        <p14:creationId xmlns:p14="http://schemas.microsoft.com/office/powerpoint/2010/main" val="218147602"/>
      </p:ext>
    </p:extLst>
  </p:cSld>
  <p:clrMapOvr>
    <a:masterClrMapping/>
  </p:clrMapOvr>
  <mc:AlternateContent xmlns:mc="http://schemas.openxmlformats.org/markup-compatibility/2006">
    <mc:Choice xmlns:p14="http://schemas.microsoft.com/office/powerpoint/2010/main" Requires="p14">
      <p:transition spd="slow" p14:dur="1250">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Shape 102"/>
        <p:cNvGrpSpPr/>
        <p:nvPr/>
      </p:nvGrpSpPr>
      <p:grpSpPr>
        <a:xfrm>
          <a:off x="0" y="0"/>
          <a:ext cx="0" cy="0"/>
          <a:chOff x="0" y="0"/>
          <a:chExt cx="0" cy="0"/>
        </a:xfrm>
      </p:grpSpPr>
      <p:sp>
        <p:nvSpPr>
          <p:cNvPr id="104" name="Google Shape;104;p15"/>
          <p:cNvSpPr txBox="1"/>
          <p:nvPr/>
        </p:nvSpPr>
        <p:spPr>
          <a:xfrm>
            <a:off x="966787" y="2549351"/>
            <a:ext cx="3400425"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dirty="0">
                <a:solidFill>
                  <a:srgbClr val="005088"/>
                </a:solidFill>
                <a:latin typeface="Times New Roman" panose="02020603050405020304" pitchFamily="18" charset="0"/>
                <a:cs typeface="Times New Roman" panose="02020603050405020304" pitchFamily="18" charset="0"/>
                <a:sym typeface="Merriweather"/>
              </a:rPr>
              <a:t>Saad Mahmood</a:t>
            </a:r>
            <a:endParaRPr dirty="0">
              <a:latin typeface="Times New Roman" panose="02020603050405020304" pitchFamily="18" charset="0"/>
              <a:cs typeface="Times New Roman" panose="02020603050405020304" pitchFamily="18" charset="0"/>
            </a:endParaRPr>
          </a:p>
        </p:txBody>
      </p:sp>
      <p:sp>
        <p:nvSpPr>
          <p:cNvPr id="105" name="Google Shape;105;p15"/>
          <p:cNvSpPr txBox="1"/>
          <p:nvPr/>
        </p:nvSpPr>
        <p:spPr>
          <a:xfrm>
            <a:off x="1995933" y="3110183"/>
            <a:ext cx="1219200" cy="346249"/>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2025-CS-120</a:t>
            </a:r>
            <a:endParaRPr dirty="0">
              <a:latin typeface="Times New Roman" panose="02020603050405020304" pitchFamily="18" charset="0"/>
              <a:cs typeface="Times New Roman" panose="02020603050405020304" pitchFamily="18" charset="0"/>
            </a:endParaRPr>
          </a:p>
        </p:txBody>
      </p:sp>
      <p:sp>
        <p:nvSpPr>
          <p:cNvPr id="106" name="Google Shape;106;p15"/>
          <p:cNvSpPr txBox="1"/>
          <p:nvPr/>
        </p:nvSpPr>
        <p:spPr>
          <a:xfrm>
            <a:off x="4960101" y="2412209"/>
            <a:ext cx="2293703" cy="6463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dirty="0">
                <a:solidFill>
                  <a:schemeClr val="bg2"/>
                </a:solidFill>
                <a:latin typeface="Times New Roman" panose="02020603050405020304" pitchFamily="18" charset="0"/>
                <a:cs typeface="Times New Roman" panose="02020603050405020304" pitchFamily="18" charset="0"/>
              </a:rPr>
              <a:t>Muhammad Hamza Qamar</a:t>
            </a:r>
            <a:endParaRPr sz="2100" b="1" dirty="0">
              <a:solidFill>
                <a:schemeClr val="bg2"/>
              </a:solidFill>
              <a:latin typeface="Times New Roman" panose="02020603050405020304" pitchFamily="18" charset="0"/>
              <a:cs typeface="Times New Roman" panose="02020603050405020304" pitchFamily="18" charset="0"/>
            </a:endParaRPr>
          </a:p>
        </p:txBody>
      </p:sp>
      <p:sp>
        <p:nvSpPr>
          <p:cNvPr id="107" name="Google Shape;107;p15"/>
          <p:cNvSpPr txBox="1"/>
          <p:nvPr/>
        </p:nvSpPr>
        <p:spPr>
          <a:xfrm>
            <a:off x="5487827" y="3079402"/>
            <a:ext cx="1238250" cy="346249"/>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2025-CS-123</a:t>
            </a:r>
            <a:endParaRPr dirty="0">
              <a:latin typeface="Times New Roman" panose="02020603050405020304" pitchFamily="18" charset="0"/>
              <a:cs typeface="Times New Roman" panose="02020603050405020304" pitchFamily="18" charset="0"/>
            </a:endParaRPr>
          </a:p>
        </p:txBody>
      </p:sp>
      <p:sp>
        <p:nvSpPr>
          <p:cNvPr id="108" name="Google Shape;108;p15"/>
          <p:cNvSpPr txBox="1"/>
          <p:nvPr/>
        </p:nvSpPr>
        <p:spPr>
          <a:xfrm>
            <a:off x="8154828" y="2549351"/>
            <a:ext cx="2740342"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Malik Aliyan Zawar</a:t>
            </a:r>
            <a:endParaRPr dirty="0">
              <a:latin typeface="Times New Roman" panose="02020603050405020304" pitchFamily="18" charset="0"/>
              <a:cs typeface="Times New Roman" panose="02020603050405020304" pitchFamily="18" charset="0"/>
            </a:endParaRPr>
          </a:p>
        </p:txBody>
      </p:sp>
      <p:sp>
        <p:nvSpPr>
          <p:cNvPr id="109" name="Google Shape;109;p15"/>
          <p:cNvSpPr txBox="1"/>
          <p:nvPr/>
        </p:nvSpPr>
        <p:spPr>
          <a:xfrm>
            <a:off x="8905145" y="2964374"/>
            <a:ext cx="1238250" cy="346249"/>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2025-CS-166</a:t>
            </a:r>
            <a:endParaRPr dirty="0">
              <a:latin typeface="Times New Roman" panose="02020603050405020304" pitchFamily="18" charset="0"/>
              <a:cs typeface="Times New Roman" panose="02020603050405020304" pitchFamily="18" charset="0"/>
            </a:endParaRPr>
          </a:p>
        </p:txBody>
      </p:sp>
      <p:sp>
        <p:nvSpPr>
          <p:cNvPr id="110" name="Google Shape;110;p15"/>
          <p:cNvSpPr txBox="1"/>
          <p:nvPr/>
        </p:nvSpPr>
        <p:spPr>
          <a:xfrm>
            <a:off x="966787" y="5883101"/>
            <a:ext cx="3400425" cy="6463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Muhammad Abdullah Siddique</a:t>
            </a:r>
            <a:endParaRPr dirty="0">
              <a:latin typeface="Times New Roman" panose="02020603050405020304" pitchFamily="18" charset="0"/>
              <a:cs typeface="Times New Roman" panose="02020603050405020304" pitchFamily="18" charset="0"/>
            </a:endParaRPr>
          </a:p>
        </p:txBody>
      </p:sp>
      <p:sp>
        <p:nvSpPr>
          <p:cNvPr id="111" name="Google Shape;111;p15"/>
          <p:cNvSpPr txBox="1"/>
          <p:nvPr/>
        </p:nvSpPr>
        <p:spPr>
          <a:xfrm>
            <a:off x="2009775" y="6511751"/>
            <a:ext cx="1238250" cy="346249"/>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2025-CS-130</a:t>
            </a:r>
            <a:endParaRPr dirty="0">
              <a:latin typeface="Times New Roman" panose="02020603050405020304" pitchFamily="18" charset="0"/>
              <a:cs typeface="Times New Roman" panose="02020603050405020304" pitchFamily="18" charset="0"/>
            </a:endParaRPr>
          </a:p>
        </p:txBody>
      </p:sp>
      <p:sp>
        <p:nvSpPr>
          <p:cNvPr id="112" name="Google Shape;112;p15"/>
          <p:cNvSpPr txBox="1"/>
          <p:nvPr/>
        </p:nvSpPr>
        <p:spPr>
          <a:xfrm>
            <a:off x="4485798" y="5883101"/>
            <a:ext cx="3220402"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Muhammad Sheharyar</a:t>
            </a:r>
            <a:endParaRPr dirty="0">
              <a:latin typeface="Times New Roman" panose="02020603050405020304" pitchFamily="18" charset="0"/>
              <a:cs typeface="Times New Roman" panose="02020603050405020304" pitchFamily="18" charset="0"/>
            </a:endParaRPr>
          </a:p>
        </p:txBody>
      </p:sp>
      <p:sp>
        <p:nvSpPr>
          <p:cNvPr id="113" name="Google Shape;113;p15"/>
          <p:cNvSpPr txBox="1"/>
          <p:nvPr/>
        </p:nvSpPr>
        <p:spPr>
          <a:xfrm>
            <a:off x="5549407" y="6435551"/>
            <a:ext cx="1219200" cy="346249"/>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2025-CS-154</a:t>
            </a:r>
            <a:endParaRPr dirty="0">
              <a:latin typeface="Times New Roman" panose="02020603050405020304" pitchFamily="18" charset="0"/>
              <a:cs typeface="Times New Roman" panose="02020603050405020304" pitchFamily="18" charset="0"/>
            </a:endParaRPr>
          </a:p>
        </p:txBody>
      </p:sp>
      <p:sp>
        <p:nvSpPr>
          <p:cNvPr id="114" name="Google Shape;114;p15"/>
          <p:cNvSpPr txBox="1"/>
          <p:nvPr/>
        </p:nvSpPr>
        <p:spPr>
          <a:xfrm>
            <a:off x="8524875" y="5883101"/>
            <a:ext cx="2000250"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Abdul Hannan</a:t>
            </a:r>
            <a:endParaRPr dirty="0">
              <a:latin typeface="Times New Roman" panose="02020603050405020304" pitchFamily="18" charset="0"/>
              <a:cs typeface="Times New Roman" panose="02020603050405020304" pitchFamily="18" charset="0"/>
            </a:endParaRPr>
          </a:p>
        </p:txBody>
      </p:sp>
      <p:sp>
        <p:nvSpPr>
          <p:cNvPr id="115" name="Google Shape;115;p15"/>
          <p:cNvSpPr txBox="1"/>
          <p:nvPr/>
        </p:nvSpPr>
        <p:spPr>
          <a:xfrm>
            <a:off x="8943975" y="6416501"/>
            <a:ext cx="1162050" cy="346249"/>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2025-CS-121</a:t>
            </a:r>
            <a:endParaRPr dirty="0">
              <a:latin typeface="Times New Roman" panose="02020603050405020304" pitchFamily="18" charset="0"/>
              <a:cs typeface="Times New Roman" panose="02020603050405020304" pitchFamily="18" charset="0"/>
            </a:endParaRPr>
          </a:p>
        </p:txBody>
      </p:sp>
      <p:sp>
        <p:nvSpPr>
          <p:cNvPr id="122" name="Google Shape;122;p15"/>
          <p:cNvSpPr txBox="1"/>
          <p:nvPr/>
        </p:nvSpPr>
        <p:spPr>
          <a:xfrm>
            <a:off x="358282" y="77613"/>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Group Members</a:t>
            </a:r>
            <a:endParaRPr dirty="0">
              <a:latin typeface="Times New Roman" panose="02020603050405020304" pitchFamily="18" charset="0"/>
              <a:cs typeface="Times New Roman" panose="02020603050405020304" pitchFamily="18" charset="0"/>
            </a:endParaRPr>
          </a:p>
        </p:txBody>
      </p:sp>
      <p:pic>
        <p:nvPicPr>
          <p:cNvPr id="3" name="Picture 2" descr="A logo of a person with a graduation cap and book&#10;&#10;AI-generated content may be incorrect.">
            <a:extLst>
              <a:ext uri="{FF2B5EF4-FFF2-40B4-BE49-F238E27FC236}">
                <a16:creationId xmlns:a16="http://schemas.microsoft.com/office/drawing/2014/main" id="{65842A64-0529-1B5A-E7FA-55632BA02DD7}"/>
              </a:ext>
            </a:extLst>
          </p:cNvPr>
          <p:cNvPicPr>
            <a:picLocks noChangeAspect="1"/>
          </p:cNvPicPr>
          <p:nvPr/>
        </p:nvPicPr>
        <p:blipFill>
          <a:blip r:embed="rId3"/>
          <a:stretch>
            <a:fillRect/>
          </a:stretch>
        </p:blipFill>
        <p:spPr>
          <a:xfrm>
            <a:off x="1636864" y="835994"/>
            <a:ext cx="1998790" cy="1552575"/>
          </a:xfrm>
          <a:prstGeom prst="rect">
            <a:avLst/>
          </a:prstGeom>
        </p:spPr>
      </p:pic>
      <p:pic>
        <p:nvPicPr>
          <p:cNvPr id="4" name="Picture 3" descr="A logo of a person with a graduation cap and book&#10;&#10;AI-generated content may be incorrect.">
            <a:extLst>
              <a:ext uri="{FF2B5EF4-FFF2-40B4-BE49-F238E27FC236}">
                <a16:creationId xmlns:a16="http://schemas.microsoft.com/office/drawing/2014/main" id="{54C78B1D-5C46-B041-7767-8744B3627464}"/>
              </a:ext>
            </a:extLst>
          </p:cNvPr>
          <p:cNvPicPr>
            <a:picLocks noChangeAspect="1"/>
          </p:cNvPicPr>
          <p:nvPr/>
        </p:nvPicPr>
        <p:blipFill>
          <a:blip r:embed="rId3"/>
          <a:stretch>
            <a:fillRect/>
          </a:stretch>
        </p:blipFill>
        <p:spPr>
          <a:xfrm>
            <a:off x="1660936" y="3928760"/>
            <a:ext cx="1998790" cy="1658493"/>
          </a:xfrm>
          <a:prstGeom prst="rect">
            <a:avLst/>
          </a:prstGeom>
        </p:spPr>
      </p:pic>
      <p:pic>
        <p:nvPicPr>
          <p:cNvPr id="5" name="Picture 4" descr="A logo of a person with a graduation cap and book&#10;&#10;AI-generated content may be incorrect.">
            <a:extLst>
              <a:ext uri="{FF2B5EF4-FFF2-40B4-BE49-F238E27FC236}">
                <a16:creationId xmlns:a16="http://schemas.microsoft.com/office/drawing/2014/main" id="{D5760901-9B6C-ACA6-ADB5-A44C18C87D21}"/>
              </a:ext>
            </a:extLst>
          </p:cNvPr>
          <p:cNvPicPr>
            <a:picLocks noChangeAspect="1"/>
          </p:cNvPicPr>
          <p:nvPr/>
        </p:nvPicPr>
        <p:blipFill>
          <a:blip r:embed="rId3"/>
          <a:stretch>
            <a:fillRect/>
          </a:stretch>
        </p:blipFill>
        <p:spPr>
          <a:xfrm>
            <a:off x="5182345" y="3996007"/>
            <a:ext cx="1998790" cy="1677544"/>
          </a:xfrm>
          <a:prstGeom prst="rect">
            <a:avLst/>
          </a:prstGeom>
        </p:spPr>
      </p:pic>
      <p:pic>
        <p:nvPicPr>
          <p:cNvPr id="6" name="Picture 5" descr="A logo of a person with a graduation cap and book&#10;&#10;AI-generated content may be incorrect.">
            <a:extLst>
              <a:ext uri="{FF2B5EF4-FFF2-40B4-BE49-F238E27FC236}">
                <a16:creationId xmlns:a16="http://schemas.microsoft.com/office/drawing/2014/main" id="{F06207DB-E2A4-422D-B444-AC155CF2AD37}"/>
              </a:ext>
            </a:extLst>
          </p:cNvPr>
          <p:cNvPicPr>
            <a:picLocks noChangeAspect="1"/>
          </p:cNvPicPr>
          <p:nvPr/>
        </p:nvPicPr>
        <p:blipFill>
          <a:blip r:embed="rId3"/>
          <a:stretch>
            <a:fillRect/>
          </a:stretch>
        </p:blipFill>
        <p:spPr>
          <a:xfrm>
            <a:off x="8524875" y="787798"/>
            <a:ext cx="1998790" cy="1543431"/>
          </a:xfrm>
          <a:prstGeom prst="rect">
            <a:avLst/>
          </a:prstGeom>
        </p:spPr>
      </p:pic>
      <p:pic>
        <p:nvPicPr>
          <p:cNvPr id="7" name="Picture 6" descr="A logo of a person with a graduation cap and book&#10;&#10;AI-generated content may be incorrect.">
            <a:extLst>
              <a:ext uri="{FF2B5EF4-FFF2-40B4-BE49-F238E27FC236}">
                <a16:creationId xmlns:a16="http://schemas.microsoft.com/office/drawing/2014/main" id="{8161BEEE-D638-16CA-8A96-CB1935C15482}"/>
              </a:ext>
            </a:extLst>
          </p:cNvPr>
          <p:cNvPicPr>
            <a:picLocks noChangeAspect="1"/>
          </p:cNvPicPr>
          <p:nvPr/>
        </p:nvPicPr>
        <p:blipFill>
          <a:blip r:embed="rId3"/>
          <a:stretch>
            <a:fillRect/>
          </a:stretch>
        </p:blipFill>
        <p:spPr>
          <a:xfrm>
            <a:off x="5182345" y="787798"/>
            <a:ext cx="1885967" cy="1600200"/>
          </a:xfrm>
          <a:prstGeom prst="rect">
            <a:avLst/>
          </a:prstGeom>
        </p:spPr>
      </p:pic>
      <p:pic>
        <p:nvPicPr>
          <p:cNvPr id="8" name="Picture 7" descr="A logo of a person with a graduation cap and book&#10;&#10;AI-generated content may be incorrect.">
            <a:extLst>
              <a:ext uri="{FF2B5EF4-FFF2-40B4-BE49-F238E27FC236}">
                <a16:creationId xmlns:a16="http://schemas.microsoft.com/office/drawing/2014/main" id="{E1EAD0E5-DD5D-B7E6-4757-EE3649820467}"/>
              </a:ext>
            </a:extLst>
          </p:cNvPr>
          <p:cNvPicPr>
            <a:picLocks noChangeAspect="1"/>
          </p:cNvPicPr>
          <p:nvPr/>
        </p:nvPicPr>
        <p:blipFill>
          <a:blip r:embed="rId3"/>
          <a:stretch>
            <a:fillRect/>
          </a:stretch>
        </p:blipFill>
        <p:spPr>
          <a:xfrm>
            <a:off x="8607456" y="3785884"/>
            <a:ext cx="1998790" cy="1801369"/>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1000"/>
                                        <p:tgtEl>
                                          <p:spTgt spid="8"/>
                                        </p:tgtEl>
                                      </p:cBhvr>
                                    </p:animEffect>
                                    <p:anim calcmode="lin" valueType="num">
                                      <p:cBhvr>
                                        <p:cTn id="33" dur="1000" fill="hold"/>
                                        <p:tgtEl>
                                          <p:spTgt spid="8"/>
                                        </p:tgtEl>
                                        <p:attrNameLst>
                                          <p:attrName>ppt_x</p:attrName>
                                        </p:attrNameLst>
                                      </p:cBhvr>
                                      <p:tavLst>
                                        <p:tav tm="0">
                                          <p:val>
                                            <p:strVal val="#ppt_x"/>
                                          </p:val>
                                        </p:tav>
                                        <p:tav tm="100000">
                                          <p:val>
                                            <p:strVal val="#ppt_x"/>
                                          </p:val>
                                        </p:tav>
                                      </p:tavLst>
                                    </p:anim>
                                    <p:anim calcmode="lin" valueType="num">
                                      <p:cBhvr>
                                        <p:cTn id="34" dur="1000" fill="hold"/>
                                        <p:tgtEl>
                                          <p:spTgt spid="8"/>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500"/>
                                  </p:stCondLst>
                                  <p:childTnLst>
                                    <p:set>
                                      <p:cBhvr>
                                        <p:cTn id="36" dur="1" fill="hold">
                                          <p:stCondLst>
                                            <p:cond delay="0"/>
                                          </p:stCondLst>
                                        </p:cTn>
                                        <p:tgtEl>
                                          <p:spTgt spid="104"/>
                                        </p:tgtEl>
                                        <p:attrNameLst>
                                          <p:attrName>style.visibility</p:attrName>
                                        </p:attrNameLst>
                                      </p:cBhvr>
                                      <p:to>
                                        <p:strVal val="visible"/>
                                      </p:to>
                                    </p:set>
                                    <p:animEffect transition="in" filter="fade">
                                      <p:cBhvr>
                                        <p:cTn id="37" dur="1000"/>
                                        <p:tgtEl>
                                          <p:spTgt spid="104"/>
                                        </p:tgtEl>
                                      </p:cBhvr>
                                    </p:animEffect>
                                    <p:anim calcmode="lin" valueType="num">
                                      <p:cBhvr>
                                        <p:cTn id="38" dur="1000" fill="hold"/>
                                        <p:tgtEl>
                                          <p:spTgt spid="104"/>
                                        </p:tgtEl>
                                        <p:attrNameLst>
                                          <p:attrName>ppt_x</p:attrName>
                                        </p:attrNameLst>
                                      </p:cBhvr>
                                      <p:tavLst>
                                        <p:tav tm="0">
                                          <p:val>
                                            <p:strVal val="#ppt_x"/>
                                          </p:val>
                                        </p:tav>
                                        <p:tav tm="100000">
                                          <p:val>
                                            <p:strVal val="#ppt_x"/>
                                          </p:val>
                                        </p:tav>
                                      </p:tavLst>
                                    </p:anim>
                                    <p:anim calcmode="lin" valueType="num">
                                      <p:cBhvr>
                                        <p:cTn id="39" dur="1000" fill="hold"/>
                                        <p:tgtEl>
                                          <p:spTgt spid="10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500"/>
                                  </p:stCondLst>
                                  <p:childTnLst>
                                    <p:set>
                                      <p:cBhvr>
                                        <p:cTn id="41" dur="1" fill="hold">
                                          <p:stCondLst>
                                            <p:cond delay="0"/>
                                          </p:stCondLst>
                                        </p:cTn>
                                        <p:tgtEl>
                                          <p:spTgt spid="106"/>
                                        </p:tgtEl>
                                        <p:attrNameLst>
                                          <p:attrName>style.visibility</p:attrName>
                                        </p:attrNameLst>
                                      </p:cBhvr>
                                      <p:to>
                                        <p:strVal val="visible"/>
                                      </p:to>
                                    </p:set>
                                    <p:animEffect transition="in" filter="fade">
                                      <p:cBhvr>
                                        <p:cTn id="42" dur="1000"/>
                                        <p:tgtEl>
                                          <p:spTgt spid="106"/>
                                        </p:tgtEl>
                                      </p:cBhvr>
                                    </p:animEffect>
                                    <p:anim calcmode="lin" valueType="num">
                                      <p:cBhvr>
                                        <p:cTn id="43" dur="1000" fill="hold"/>
                                        <p:tgtEl>
                                          <p:spTgt spid="106"/>
                                        </p:tgtEl>
                                        <p:attrNameLst>
                                          <p:attrName>ppt_x</p:attrName>
                                        </p:attrNameLst>
                                      </p:cBhvr>
                                      <p:tavLst>
                                        <p:tav tm="0">
                                          <p:val>
                                            <p:strVal val="#ppt_x"/>
                                          </p:val>
                                        </p:tav>
                                        <p:tav tm="100000">
                                          <p:val>
                                            <p:strVal val="#ppt_x"/>
                                          </p:val>
                                        </p:tav>
                                      </p:tavLst>
                                    </p:anim>
                                    <p:anim calcmode="lin" valueType="num">
                                      <p:cBhvr>
                                        <p:cTn id="44" dur="1000" fill="hold"/>
                                        <p:tgtEl>
                                          <p:spTgt spid="10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500"/>
                                  </p:stCondLst>
                                  <p:childTnLst>
                                    <p:set>
                                      <p:cBhvr>
                                        <p:cTn id="46" dur="1" fill="hold">
                                          <p:stCondLst>
                                            <p:cond delay="0"/>
                                          </p:stCondLst>
                                        </p:cTn>
                                        <p:tgtEl>
                                          <p:spTgt spid="108"/>
                                        </p:tgtEl>
                                        <p:attrNameLst>
                                          <p:attrName>style.visibility</p:attrName>
                                        </p:attrNameLst>
                                      </p:cBhvr>
                                      <p:to>
                                        <p:strVal val="visible"/>
                                      </p:to>
                                    </p:set>
                                    <p:animEffect transition="in" filter="fade">
                                      <p:cBhvr>
                                        <p:cTn id="47" dur="1000"/>
                                        <p:tgtEl>
                                          <p:spTgt spid="108"/>
                                        </p:tgtEl>
                                      </p:cBhvr>
                                    </p:animEffect>
                                    <p:anim calcmode="lin" valueType="num">
                                      <p:cBhvr>
                                        <p:cTn id="48" dur="1000" fill="hold"/>
                                        <p:tgtEl>
                                          <p:spTgt spid="108"/>
                                        </p:tgtEl>
                                        <p:attrNameLst>
                                          <p:attrName>ppt_x</p:attrName>
                                        </p:attrNameLst>
                                      </p:cBhvr>
                                      <p:tavLst>
                                        <p:tav tm="0">
                                          <p:val>
                                            <p:strVal val="#ppt_x"/>
                                          </p:val>
                                        </p:tav>
                                        <p:tav tm="100000">
                                          <p:val>
                                            <p:strVal val="#ppt_x"/>
                                          </p:val>
                                        </p:tav>
                                      </p:tavLst>
                                    </p:anim>
                                    <p:anim calcmode="lin" valueType="num">
                                      <p:cBhvr>
                                        <p:cTn id="49" dur="1000" fill="hold"/>
                                        <p:tgtEl>
                                          <p:spTgt spid="108"/>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500"/>
                                  </p:stCondLst>
                                  <p:childTnLst>
                                    <p:set>
                                      <p:cBhvr>
                                        <p:cTn id="51" dur="1" fill="hold">
                                          <p:stCondLst>
                                            <p:cond delay="0"/>
                                          </p:stCondLst>
                                        </p:cTn>
                                        <p:tgtEl>
                                          <p:spTgt spid="110"/>
                                        </p:tgtEl>
                                        <p:attrNameLst>
                                          <p:attrName>style.visibility</p:attrName>
                                        </p:attrNameLst>
                                      </p:cBhvr>
                                      <p:to>
                                        <p:strVal val="visible"/>
                                      </p:to>
                                    </p:set>
                                    <p:animEffect transition="in" filter="fade">
                                      <p:cBhvr>
                                        <p:cTn id="52" dur="1000"/>
                                        <p:tgtEl>
                                          <p:spTgt spid="110"/>
                                        </p:tgtEl>
                                      </p:cBhvr>
                                    </p:animEffect>
                                    <p:anim calcmode="lin" valueType="num">
                                      <p:cBhvr>
                                        <p:cTn id="53" dur="1000" fill="hold"/>
                                        <p:tgtEl>
                                          <p:spTgt spid="110"/>
                                        </p:tgtEl>
                                        <p:attrNameLst>
                                          <p:attrName>ppt_x</p:attrName>
                                        </p:attrNameLst>
                                      </p:cBhvr>
                                      <p:tavLst>
                                        <p:tav tm="0">
                                          <p:val>
                                            <p:strVal val="#ppt_x"/>
                                          </p:val>
                                        </p:tav>
                                        <p:tav tm="100000">
                                          <p:val>
                                            <p:strVal val="#ppt_x"/>
                                          </p:val>
                                        </p:tav>
                                      </p:tavLst>
                                    </p:anim>
                                    <p:anim calcmode="lin" valueType="num">
                                      <p:cBhvr>
                                        <p:cTn id="54" dur="1000" fill="hold"/>
                                        <p:tgtEl>
                                          <p:spTgt spid="110"/>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500"/>
                                  </p:stCondLst>
                                  <p:childTnLst>
                                    <p:set>
                                      <p:cBhvr>
                                        <p:cTn id="56" dur="1" fill="hold">
                                          <p:stCondLst>
                                            <p:cond delay="0"/>
                                          </p:stCondLst>
                                        </p:cTn>
                                        <p:tgtEl>
                                          <p:spTgt spid="112">
                                            <p:txEl>
                                              <p:pRg st="0" end="0"/>
                                            </p:txEl>
                                          </p:spTgt>
                                        </p:tgtEl>
                                        <p:attrNameLst>
                                          <p:attrName>style.visibility</p:attrName>
                                        </p:attrNameLst>
                                      </p:cBhvr>
                                      <p:to>
                                        <p:strVal val="visible"/>
                                      </p:to>
                                    </p:set>
                                    <p:animEffect transition="in" filter="fade">
                                      <p:cBhvr>
                                        <p:cTn id="57" dur="1000"/>
                                        <p:tgtEl>
                                          <p:spTgt spid="112">
                                            <p:txEl>
                                              <p:pRg st="0" end="0"/>
                                            </p:txEl>
                                          </p:spTgt>
                                        </p:tgtEl>
                                      </p:cBhvr>
                                    </p:animEffect>
                                    <p:anim calcmode="lin" valueType="num">
                                      <p:cBhvr>
                                        <p:cTn id="58" dur="1000" fill="hold"/>
                                        <p:tgtEl>
                                          <p:spTgt spid="112">
                                            <p:txEl>
                                              <p:pRg st="0" end="0"/>
                                            </p:txEl>
                                          </p:spTgt>
                                        </p:tgtEl>
                                        <p:attrNameLst>
                                          <p:attrName>ppt_x</p:attrName>
                                        </p:attrNameLst>
                                      </p:cBhvr>
                                      <p:tavLst>
                                        <p:tav tm="0">
                                          <p:val>
                                            <p:strVal val="#ppt_x"/>
                                          </p:val>
                                        </p:tav>
                                        <p:tav tm="100000">
                                          <p:val>
                                            <p:strVal val="#ppt_x"/>
                                          </p:val>
                                        </p:tav>
                                      </p:tavLst>
                                    </p:anim>
                                    <p:anim calcmode="lin" valueType="num">
                                      <p:cBhvr>
                                        <p:cTn id="59" dur="1000" fill="hold"/>
                                        <p:tgtEl>
                                          <p:spTgt spid="112">
                                            <p:txEl>
                                              <p:pRg st="0" end="0"/>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500"/>
                                  </p:stCondLst>
                                  <p:childTnLst>
                                    <p:set>
                                      <p:cBhvr>
                                        <p:cTn id="61" dur="1" fill="hold">
                                          <p:stCondLst>
                                            <p:cond delay="0"/>
                                          </p:stCondLst>
                                        </p:cTn>
                                        <p:tgtEl>
                                          <p:spTgt spid="114"/>
                                        </p:tgtEl>
                                        <p:attrNameLst>
                                          <p:attrName>style.visibility</p:attrName>
                                        </p:attrNameLst>
                                      </p:cBhvr>
                                      <p:to>
                                        <p:strVal val="visible"/>
                                      </p:to>
                                    </p:set>
                                    <p:animEffect transition="in" filter="fade">
                                      <p:cBhvr>
                                        <p:cTn id="62" dur="1000"/>
                                        <p:tgtEl>
                                          <p:spTgt spid="114"/>
                                        </p:tgtEl>
                                      </p:cBhvr>
                                    </p:animEffect>
                                    <p:anim calcmode="lin" valueType="num">
                                      <p:cBhvr>
                                        <p:cTn id="63" dur="1000" fill="hold"/>
                                        <p:tgtEl>
                                          <p:spTgt spid="114"/>
                                        </p:tgtEl>
                                        <p:attrNameLst>
                                          <p:attrName>ppt_x</p:attrName>
                                        </p:attrNameLst>
                                      </p:cBhvr>
                                      <p:tavLst>
                                        <p:tav tm="0">
                                          <p:val>
                                            <p:strVal val="#ppt_x"/>
                                          </p:val>
                                        </p:tav>
                                        <p:tav tm="100000">
                                          <p:val>
                                            <p:strVal val="#ppt_x"/>
                                          </p:val>
                                        </p:tav>
                                      </p:tavLst>
                                    </p:anim>
                                    <p:anim calcmode="lin" valueType="num">
                                      <p:cBhvr>
                                        <p:cTn id="64" dur="1000" fill="hold"/>
                                        <p:tgtEl>
                                          <p:spTgt spid="114"/>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1000"/>
                                  </p:stCondLst>
                                  <p:childTnLst>
                                    <p:set>
                                      <p:cBhvr>
                                        <p:cTn id="66" dur="1" fill="hold">
                                          <p:stCondLst>
                                            <p:cond delay="0"/>
                                          </p:stCondLst>
                                        </p:cTn>
                                        <p:tgtEl>
                                          <p:spTgt spid="105"/>
                                        </p:tgtEl>
                                        <p:attrNameLst>
                                          <p:attrName>style.visibility</p:attrName>
                                        </p:attrNameLst>
                                      </p:cBhvr>
                                      <p:to>
                                        <p:strVal val="visible"/>
                                      </p:to>
                                    </p:set>
                                    <p:animEffect transition="in" filter="fade">
                                      <p:cBhvr>
                                        <p:cTn id="67" dur="1000"/>
                                        <p:tgtEl>
                                          <p:spTgt spid="105"/>
                                        </p:tgtEl>
                                      </p:cBhvr>
                                    </p:animEffect>
                                    <p:anim calcmode="lin" valueType="num">
                                      <p:cBhvr>
                                        <p:cTn id="68" dur="1000" fill="hold"/>
                                        <p:tgtEl>
                                          <p:spTgt spid="105"/>
                                        </p:tgtEl>
                                        <p:attrNameLst>
                                          <p:attrName>ppt_x</p:attrName>
                                        </p:attrNameLst>
                                      </p:cBhvr>
                                      <p:tavLst>
                                        <p:tav tm="0">
                                          <p:val>
                                            <p:strVal val="#ppt_x"/>
                                          </p:val>
                                        </p:tav>
                                        <p:tav tm="100000">
                                          <p:val>
                                            <p:strVal val="#ppt_x"/>
                                          </p:val>
                                        </p:tav>
                                      </p:tavLst>
                                    </p:anim>
                                    <p:anim calcmode="lin" valueType="num">
                                      <p:cBhvr>
                                        <p:cTn id="69" dur="1000" fill="hold"/>
                                        <p:tgtEl>
                                          <p:spTgt spid="10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1000"/>
                                  </p:stCondLst>
                                  <p:childTnLst>
                                    <p:set>
                                      <p:cBhvr>
                                        <p:cTn id="71" dur="1" fill="hold">
                                          <p:stCondLst>
                                            <p:cond delay="0"/>
                                          </p:stCondLst>
                                        </p:cTn>
                                        <p:tgtEl>
                                          <p:spTgt spid="107"/>
                                        </p:tgtEl>
                                        <p:attrNameLst>
                                          <p:attrName>style.visibility</p:attrName>
                                        </p:attrNameLst>
                                      </p:cBhvr>
                                      <p:to>
                                        <p:strVal val="visible"/>
                                      </p:to>
                                    </p:set>
                                    <p:animEffect transition="in" filter="fade">
                                      <p:cBhvr>
                                        <p:cTn id="72" dur="1000"/>
                                        <p:tgtEl>
                                          <p:spTgt spid="107"/>
                                        </p:tgtEl>
                                      </p:cBhvr>
                                    </p:animEffect>
                                    <p:anim calcmode="lin" valueType="num">
                                      <p:cBhvr>
                                        <p:cTn id="73" dur="1000" fill="hold"/>
                                        <p:tgtEl>
                                          <p:spTgt spid="107"/>
                                        </p:tgtEl>
                                        <p:attrNameLst>
                                          <p:attrName>ppt_x</p:attrName>
                                        </p:attrNameLst>
                                      </p:cBhvr>
                                      <p:tavLst>
                                        <p:tav tm="0">
                                          <p:val>
                                            <p:strVal val="#ppt_x"/>
                                          </p:val>
                                        </p:tav>
                                        <p:tav tm="100000">
                                          <p:val>
                                            <p:strVal val="#ppt_x"/>
                                          </p:val>
                                        </p:tav>
                                      </p:tavLst>
                                    </p:anim>
                                    <p:anim calcmode="lin" valueType="num">
                                      <p:cBhvr>
                                        <p:cTn id="74" dur="1000" fill="hold"/>
                                        <p:tgtEl>
                                          <p:spTgt spid="107"/>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1000"/>
                                  </p:stCondLst>
                                  <p:childTnLst>
                                    <p:set>
                                      <p:cBhvr>
                                        <p:cTn id="76" dur="1" fill="hold">
                                          <p:stCondLst>
                                            <p:cond delay="0"/>
                                          </p:stCondLst>
                                        </p:cTn>
                                        <p:tgtEl>
                                          <p:spTgt spid="109">
                                            <p:txEl>
                                              <p:pRg st="0" end="0"/>
                                            </p:txEl>
                                          </p:spTgt>
                                        </p:tgtEl>
                                        <p:attrNameLst>
                                          <p:attrName>style.visibility</p:attrName>
                                        </p:attrNameLst>
                                      </p:cBhvr>
                                      <p:to>
                                        <p:strVal val="visible"/>
                                      </p:to>
                                    </p:set>
                                    <p:animEffect transition="in" filter="fade">
                                      <p:cBhvr>
                                        <p:cTn id="77" dur="1000"/>
                                        <p:tgtEl>
                                          <p:spTgt spid="109">
                                            <p:txEl>
                                              <p:pRg st="0" end="0"/>
                                            </p:txEl>
                                          </p:spTgt>
                                        </p:tgtEl>
                                      </p:cBhvr>
                                    </p:animEffect>
                                    <p:anim calcmode="lin" valueType="num">
                                      <p:cBhvr>
                                        <p:cTn id="78" dur="1000" fill="hold"/>
                                        <p:tgtEl>
                                          <p:spTgt spid="109">
                                            <p:txEl>
                                              <p:pRg st="0" end="0"/>
                                            </p:txEl>
                                          </p:spTgt>
                                        </p:tgtEl>
                                        <p:attrNameLst>
                                          <p:attrName>ppt_x</p:attrName>
                                        </p:attrNameLst>
                                      </p:cBhvr>
                                      <p:tavLst>
                                        <p:tav tm="0">
                                          <p:val>
                                            <p:strVal val="#ppt_x"/>
                                          </p:val>
                                        </p:tav>
                                        <p:tav tm="100000">
                                          <p:val>
                                            <p:strVal val="#ppt_x"/>
                                          </p:val>
                                        </p:tav>
                                      </p:tavLst>
                                    </p:anim>
                                    <p:anim calcmode="lin" valueType="num">
                                      <p:cBhvr>
                                        <p:cTn id="79" dur="1000" fill="hold"/>
                                        <p:tgtEl>
                                          <p:spTgt spid="109">
                                            <p:txEl>
                                              <p:pRg st="0" end="0"/>
                                            </p:txEl>
                                          </p:spTgt>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1000"/>
                                  </p:stCondLst>
                                  <p:childTnLst>
                                    <p:set>
                                      <p:cBhvr>
                                        <p:cTn id="81" dur="1" fill="hold">
                                          <p:stCondLst>
                                            <p:cond delay="0"/>
                                          </p:stCondLst>
                                        </p:cTn>
                                        <p:tgtEl>
                                          <p:spTgt spid="111"/>
                                        </p:tgtEl>
                                        <p:attrNameLst>
                                          <p:attrName>style.visibility</p:attrName>
                                        </p:attrNameLst>
                                      </p:cBhvr>
                                      <p:to>
                                        <p:strVal val="visible"/>
                                      </p:to>
                                    </p:set>
                                    <p:animEffect transition="in" filter="fade">
                                      <p:cBhvr>
                                        <p:cTn id="82" dur="1000"/>
                                        <p:tgtEl>
                                          <p:spTgt spid="111"/>
                                        </p:tgtEl>
                                      </p:cBhvr>
                                    </p:animEffect>
                                    <p:anim calcmode="lin" valueType="num">
                                      <p:cBhvr>
                                        <p:cTn id="83" dur="1000" fill="hold"/>
                                        <p:tgtEl>
                                          <p:spTgt spid="111"/>
                                        </p:tgtEl>
                                        <p:attrNameLst>
                                          <p:attrName>ppt_x</p:attrName>
                                        </p:attrNameLst>
                                      </p:cBhvr>
                                      <p:tavLst>
                                        <p:tav tm="0">
                                          <p:val>
                                            <p:strVal val="#ppt_x"/>
                                          </p:val>
                                        </p:tav>
                                        <p:tav tm="100000">
                                          <p:val>
                                            <p:strVal val="#ppt_x"/>
                                          </p:val>
                                        </p:tav>
                                      </p:tavLst>
                                    </p:anim>
                                    <p:anim calcmode="lin" valueType="num">
                                      <p:cBhvr>
                                        <p:cTn id="84" dur="1000" fill="hold"/>
                                        <p:tgtEl>
                                          <p:spTgt spid="111"/>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1000"/>
                                  </p:stCondLst>
                                  <p:childTnLst>
                                    <p:set>
                                      <p:cBhvr>
                                        <p:cTn id="86" dur="1" fill="hold">
                                          <p:stCondLst>
                                            <p:cond delay="0"/>
                                          </p:stCondLst>
                                        </p:cTn>
                                        <p:tgtEl>
                                          <p:spTgt spid="113"/>
                                        </p:tgtEl>
                                        <p:attrNameLst>
                                          <p:attrName>style.visibility</p:attrName>
                                        </p:attrNameLst>
                                      </p:cBhvr>
                                      <p:to>
                                        <p:strVal val="visible"/>
                                      </p:to>
                                    </p:set>
                                    <p:animEffect transition="in" filter="fade">
                                      <p:cBhvr>
                                        <p:cTn id="87" dur="1000"/>
                                        <p:tgtEl>
                                          <p:spTgt spid="113"/>
                                        </p:tgtEl>
                                      </p:cBhvr>
                                    </p:animEffect>
                                    <p:anim calcmode="lin" valueType="num">
                                      <p:cBhvr>
                                        <p:cTn id="88" dur="1000" fill="hold"/>
                                        <p:tgtEl>
                                          <p:spTgt spid="113"/>
                                        </p:tgtEl>
                                        <p:attrNameLst>
                                          <p:attrName>ppt_x</p:attrName>
                                        </p:attrNameLst>
                                      </p:cBhvr>
                                      <p:tavLst>
                                        <p:tav tm="0">
                                          <p:val>
                                            <p:strVal val="#ppt_x"/>
                                          </p:val>
                                        </p:tav>
                                        <p:tav tm="100000">
                                          <p:val>
                                            <p:strVal val="#ppt_x"/>
                                          </p:val>
                                        </p:tav>
                                      </p:tavLst>
                                    </p:anim>
                                    <p:anim calcmode="lin" valueType="num">
                                      <p:cBhvr>
                                        <p:cTn id="89" dur="1000" fill="hold"/>
                                        <p:tgtEl>
                                          <p:spTgt spid="113"/>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1000"/>
                                  </p:stCondLst>
                                  <p:childTnLst>
                                    <p:set>
                                      <p:cBhvr>
                                        <p:cTn id="91" dur="1" fill="hold">
                                          <p:stCondLst>
                                            <p:cond delay="0"/>
                                          </p:stCondLst>
                                        </p:cTn>
                                        <p:tgtEl>
                                          <p:spTgt spid="115">
                                            <p:txEl>
                                              <p:pRg st="0" end="0"/>
                                            </p:txEl>
                                          </p:spTgt>
                                        </p:tgtEl>
                                        <p:attrNameLst>
                                          <p:attrName>style.visibility</p:attrName>
                                        </p:attrNameLst>
                                      </p:cBhvr>
                                      <p:to>
                                        <p:strVal val="visible"/>
                                      </p:to>
                                    </p:set>
                                    <p:animEffect transition="in" filter="fade">
                                      <p:cBhvr>
                                        <p:cTn id="92" dur="1000"/>
                                        <p:tgtEl>
                                          <p:spTgt spid="115">
                                            <p:txEl>
                                              <p:pRg st="0" end="0"/>
                                            </p:txEl>
                                          </p:spTgt>
                                        </p:tgtEl>
                                      </p:cBhvr>
                                    </p:animEffect>
                                    <p:anim calcmode="lin" valueType="num">
                                      <p:cBhvr>
                                        <p:cTn id="93" dur="1000" fill="hold"/>
                                        <p:tgtEl>
                                          <p:spTgt spid="115">
                                            <p:txEl>
                                              <p:pRg st="0" end="0"/>
                                            </p:txEl>
                                          </p:spTgt>
                                        </p:tgtEl>
                                        <p:attrNameLst>
                                          <p:attrName>ppt_x</p:attrName>
                                        </p:attrNameLst>
                                      </p:cBhvr>
                                      <p:tavLst>
                                        <p:tav tm="0">
                                          <p:val>
                                            <p:strVal val="#ppt_x"/>
                                          </p:val>
                                        </p:tav>
                                        <p:tav tm="100000">
                                          <p:val>
                                            <p:strVal val="#ppt_x"/>
                                          </p:val>
                                        </p:tav>
                                      </p:tavLst>
                                    </p:anim>
                                    <p:anim calcmode="lin" valueType="num">
                                      <p:cBhvr>
                                        <p:cTn id="94" dur="1000" fill="hold"/>
                                        <p:tgtEl>
                                          <p:spTgt spid="11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P spid="105" grpId="0"/>
      <p:bldP spid="106" grpId="0"/>
      <p:bldP spid="107" grpId="0"/>
      <p:bldP spid="108" grpId="0"/>
      <p:bldP spid="110" grpId="0"/>
      <p:bldP spid="111" grpId="0"/>
      <p:bldP spid="113" grpId="0"/>
      <p:bldP spid="11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02"/>
        <p:cNvGrpSpPr/>
        <p:nvPr/>
      </p:nvGrpSpPr>
      <p:grpSpPr>
        <a:xfrm>
          <a:off x="0" y="0"/>
          <a:ext cx="0" cy="0"/>
          <a:chOff x="0" y="0"/>
          <a:chExt cx="0" cy="0"/>
        </a:xfrm>
      </p:grpSpPr>
      <p:sp>
        <p:nvSpPr>
          <p:cNvPr id="105" name="Google Shape;105;p15"/>
          <p:cNvSpPr txBox="1"/>
          <p:nvPr/>
        </p:nvSpPr>
        <p:spPr>
          <a:xfrm>
            <a:off x="571500" y="1905000"/>
            <a:ext cx="5286375" cy="13849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Starting university is an exciting yet challenging experience. Freshers face numerous difficulties during this transition that can affect their academic performance, emotional well-being, and social adjustment.</a:t>
            </a:r>
            <a:endParaRPr dirty="0">
              <a:latin typeface="Times New Roman" panose="02020603050405020304" pitchFamily="18" charset="0"/>
              <a:cs typeface="Times New Roman" panose="02020603050405020304" pitchFamily="18" charset="0"/>
            </a:endParaRPr>
          </a:p>
        </p:txBody>
      </p:sp>
      <p:sp>
        <p:nvSpPr>
          <p:cNvPr id="106" name="Google Shape;106;p15"/>
          <p:cNvSpPr txBox="1"/>
          <p:nvPr/>
        </p:nvSpPr>
        <p:spPr>
          <a:xfrm>
            <a:off x="571500" y="3238500"/>
            <a:ext cx="5286375"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This report aims to identify and analyze the common problems faced by first-year students, including:</a:t>
            </a:r>
            <a:endParaRPr dirty="0">
              <a:latin typeface="Times New Roman" panose="02020603050405020304" pitchFamily="18" charset="0"/>
              <a:cs typeface="Times New Roman" panose="02020603050405020304" pitchFamily="18" charset="0"/>
            </a:endParaRPr>
          </a:p>
        </p:txBody>
      </p:sp>
      <p:sp>
        <p:nvSpPr>
          <p:cNvPr id="107" name="Google Shape;107;p15"/>
          <p:cNvSpPr txBox="1"/>
          <p:nvPr/>
        </p:nvSpPr>
        <p:spPr>
          <a:xfrm>
            <a:off x="571500" y="5334000"/>
            <a:ext cx="5286375" cy="69249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Data was gathered via a survey of University students to understand their experiences.</a:t>
            </a:r>
            <a:endParaRPr dirty="0">
              <a:latin typeface="Times New Roman" panose="02020603050405020304" pitchFamily="18" charset="0"/>
              <a:cs typeface="Times New Roman" panose="02020603050405020304" pitchFamily="18" charset="0"/>
            </a:endParaRPr>
          </a:p>
        </p:txBody>
      </p:sp>
      <p:sp>
        <p:nvSpPr>
          <p:cNvPr id="108" name="Google Shape;108;p15"/>
          <p:cNvSpPr txBox="1"/>
          <p:nvPr/>
        </p:nvSpPr>
        <p:spPr>
          <a:xfrm>
            <a:off x="885825" y="4000500"/>
            <a:ext cx="66675"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21212"/>
                </a:solidFill>
                <a:latin typeface="Times New Roman" panose="02020603050405020304" pitchFamily="18" charset="0"/>
                <a:ea typeface="DM Sans"/>
                <a:cs typeface="Times New Roman" panose="02020603050405020304" pitchFamily="18" charset="0"/>
                <a:sym typeface="DM Sans"/>
              </a:rPr>
              <a:t>•</a:t>
            </a:r>
            <a:endParaRPr>
              <a:latin typeface="Times New Roman" panose="02020603050405020304" pitchFamily="18" charset="0"/>
              <a:cs typeface="Times New Roman" panose="02020603050405020304" pitchFamily="18" charset="0"/>
            </a:endParaRPr>
          </a:p>
        </p:txBody>
      </p:sp>
      <p:sp>
        <p:nvSpPr>
          <p:cNvPr id="109" name="Google Shape;109;p15"/>
          <p:cNvSpPr txBox="1"/>
          <p:nvPr/>
        </p:nvSpPr>
        <p:spPr>
          <a:xfrm>
            <a:off x="952500" y="4000500"/>
            <a:ext cx="4905375" cy="346249"/>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Academic Stress &amp; Workload</a:t>
            </a:r>
            <a:endParaRPr dirty="0">
              <a:latin typeface="Times New Roman" panose="02020603050405020304" pitchFamily="18" charset="0"/>
              <a:cs typeface="Times New Roman" panose="02020603050405020304" pitchFamily="18" charset="0"/>
            </a:endParaRPr>
          </a:p>
        </p:txBody>
      </p:sp>
      <p:sp>
        <p:nvSpPr>
          <p:cNvPr id="110" name="Google Shape;110;p15"/>
          <p:cNvSpPr txBox="1"/>
          <p:nvPr/>
        </p:nvSpPr>
        <p:spPr>
          <a:xfrm>
            <a:off x="885825" y="4286250"/>
            <a:ext cx="66675"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21212"/>
                </a:solidFill>
                <a:latin typeface="Times New Roman" panose="02020603050405020304" pitchFamily="18" charset="0"/>
                <a:ea typeface="DM Sans"/>
                <a:cs typeface="Times New Roman" panose="02020603050405020304" pitchFamily="18" charset="0"/>
                <a:sym typeface="DM Sans"/>
              </a:rPr>
              <a:t>•</a:t>
            </a:r>
            <a:endParaRPr>
              <a:latin typeface="Times New Roman" panose="02020603050405020304" pitchFamily="18" charset="0"/>
              <a:cs typeface="Times New Roman" panose="02020603050405020304" pitchFamily="18" charset="0"/>
            </a:endParaRPr>
          </a:p>
        </p:txBody>
      </p:sp>
      <p:sp>
        <p:nvSpPr>
          <p:cNvPr id="111" name="Google Shape;111;p15"/>
          <p:cNvSpPr txBox="1"/>
          <p:nvPr/>
        </p:nvSpPr>
        <p:spPr>
          <a:xfrm>
            <a:off x="952500" y="4286250"/>
            <a:ext cx="4905375" cy="346249"/>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Accommodation &amp; Homesickness</a:t>
            </a:r>
            <a:endParaRPr dirty="0">
              <a:latin typeface="Times New Roman" panose="02020603050405020304" pitchFamily="18" charset="0"/>
              <a:cs typeface="Times New Roman" panose="02020603050405020304" pitchFamily="18" charset="0"/>
            </a:endParaRPr>
          </a:p>
        </p:txBody>
      </p:sp>
      <p:sp>
        <p:nvSpPr>
          <p:cNvPr id="112" name="Google Shape;112;p15"/>
          <p:cNvSpPr txBox="1"/>
          <p:nvPr/>
        </p:nvSpPr>
        <p:spPr>
          <a:xfrm>
            <a:off x="885825" y="4572000"/>
            <a:ext cx="66675"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21212"/>
                </a:solidFill>
                <a:latin typeface="Times New Roman" panose="02020603050405020304" pitchFamily="18" charset="0"/>
                <a:ea typeface="DM Sans"/>
                <a:cs typeface="Times New Roman" panose="02020603050405020304" pitchFamily="18" charset="0"/>
                <a:sym typeface="DM Sans"/>
              </a:rPr>
              <a:t>•</a:t>
            </a:r>
            <a:endParaRPr>
              <a:latin typeface="Times New Roman" panose="02020603050405020304" pitchFamily="18" charset="0"/>
              <a:cs typeface="Times New Roman" panose="02020603050405020304" pitchFamily="18" charset="0"/>
            </a:endParaRPr>
          </a:p>
        </p:txBody>
      </p:sp>
      <p:sp>
        <p:nvSpPr>
          <p:cNvPr id="113" name="Google Shape;113;p15"/>
          <p:cNvSpPr txBox="1"/>
          <p:nvPr/>
        </p:nvSpPr>
        <p:spPr>
          <a:xfrm>
            <a:off x="952500" y="4572000"/>
            <a:ext cx="4905375" cy="346249"/>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Time Management Challenges</a:t>
            </a:r>
            <a:endParaRPr dirty="0">
              <a:latin typeface="Times New Roman" panose="02020603050405020304" pitchFamily="18" charset="0"/>
              <a:cs typeface="Times New Roman" panose="02020603050405020304" pitchFamily="18" charset="0"/>
            </a:endParaRPr>
          </a:p>
        </p:txBody>
      </p:sp>
      <p:sp>
        <p:nvSpPr>
          <p:cNvPr id="114" name="Google Shape;114;p15"/>
          <p:cNvSpPr txBox="1"/>
          <p:nvPr/>
        </p:nvSpPr>
        <p:spPr>
          <a:xfrm>
            <a:off x="885825" y="4857750"/>
            <a:ext cx="66675"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121212"/>
                </a:solidFill>
                <a:latin typeface="Times New Roman" panose="02020603050405020304" pitchFamily="18" charset="0"/>
                <a:ea typeface="DM Sans"/>
                <a:cs typeface="Times New Roman" panose="02020603050405020304" pitchFamily="18" charset="0"/>
                <a:sym typeface="DM Sans"/>
              </a:rPr>
              <a:t>•</a:t>
            </a:r>
            <a:endParaRPr>
              <a:latin typeface="Times New Roman" panose="02020603050405020304" pitchFamily="18" charset="0"/>
              <a:cs typeface="Times New Roman" panose="02020603050405020304" pitchFamily="18" charset="0"/>
            </a:endParaRPr>
          </a:p>
        </p:txBody>
      </p:sp>
      <p:sp>
        <p:nvSpPr>
          <p:cNvPr id="115" name="Google Shape;115;p15"/>
          <p:cNvSpPr txBox="1"/>
          <p:nvPr/>
        </p:nvSpPr>
        <p:spPr>
          <a:xfrm>
            <a:off x="952500" y="4857750"/>
            <a:ext cx="4905375" cy="346249"/>
          </a:xfrm>
          <a:prstGeom prst="rect">
            <a:avLst/>
          </a:prstGeom>
          <a:noFill/>
          <a:ln>
            <a:noFill/>
          </a:ln>
        </p:spPr>
        <p:txBody>
          <a:bodyPr spcFirstLastPara="1" wrap="square" lIns="66675" tIns="0" rIns="0" bIns="0" anchor="t" anchorCtr="0">
            <a:spAutoFit/>
          </a:bodyPr>
          <a:lstStyle/>
          <a:p>
            <a:pPr marL="0" marR="0" lvl="0" indent="0" algn="l" rtl="0">
              <a:lnSpc>
                <a:spcPct val="150000"/>
              </a:lnSpc>
              <a:spcBef>
                <a:spcPts val="0"/>
              </a:spcBef>
              <a:spcAft>
                <a:spcPts val="0"/>
              </a:spcAft>
              <a:buNone/>
            </a:pPr>
            <a:r>
              <a:rPr lang="en-US" sz="1500" b="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Social &amp; Environmental Adjustment</a:t>
            </a:r>
            <a:endParaRPr dirty="0">
              <a:latin typeface="Times New Roman" panose="02020603050405020304" pitchFamily="18" charset="0"/>
              <a:cs typeface="Times New Roman" panose="02020603050405020304" pitchFamily="18" charset="0"/>
            </a:endParaRPr>
          </a:p>
        </p:txBody>
      </p:sp>
      <p:sp>
        <p:nvSpPr>
          <p:cNvPr id="117" name="Google Shape;117;p15"/>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Introduction</a:t>
            </a:r>
            <a:endParaRPr dirty="0">
              <a:latin typeface="Times New Roman" panose="02020603050405020304" pitchFamily="18" charset="0"/>
              <a:cs typeface="Times New Roman" panose="02020603050405020304" pitchFamily="18" charset="0"/>
            </a:endParaRPr>
          </a:p>
        </p:txBody>
      </p:sp>
      <p:pic>
        <p:nvPicPr>
          <p:cNvPr id="5" name="Picture 4" descr="A group of people sitting around a table with laptops and books&#10;&#10;AI-generated content may be incorrect.">
            <a:extLst>
              <a:ext uri="{FF2B5EF4-FFF2-40B4-BE49-F238E27FC236}">
                <a16:creationId xmlns:a16="http://schemas.microsoft.com/office/drawing/2014/main" id="{91155A03-D9B0-21F8-CB72-0A4050E35551}"/>
              </a:ext>
            </a:extLst>
          </p:cNvPr>
          <p:cNvPicPr>
            <a:picLocks noChangeAspect="1"/>
          </p:cNvPicPr>
          <p:nvPr/>
        </p:nvPicPr>
        <p:blipFill>
          <a:blip r:embed="rId3"/>
          <a:stretch>
            <a:fillRect/>
          </a:stretch>
        </p:blipFill>
        <p:spPr>
          <a:xfrm>
            <a:off x="6096000" y="1142999"/>
            <a:ext cx="5908158" cy="488349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21"/>
        <p:cNvGrpSpPr/>
        <p:nvPr/>
      </p:nvGrpSpPr>
      <p:grpSpPr>
        <a:xfrm>
          <a:off x="0" y="0"/>
          <a:ext cx="0" cy="0"/>
          <a:chOff x="0" y="0"/>
          <a:chExt cx="0" cy="0"/>
        </a:xfrm>
      </p:grpSpPr>
      <p:sp>
        <p:nvSpPr>
          <p:cNvPr id="60" name="Text 0">
            <a:extLst>
              <a:ext uri="{FF2B5EF4-FFF2-40B4-BE49-F238E27FC236}">
                <a16:creationId xmlns:a16="http://schemas.microsoft.com/office/drawing/2014/main" id="{23F9D6B2-B952-C709-21E4-777A8ED2357F}"/>
              </a:ext>
            </a:extLst>
          </p:cNvPr>
          <p:cNvSpPr/>
          <p:nvPr/>
        </p:nvSpPr>
        <p:spPr>
          <a:xfrm>
            <a:off x="515914" y="189638"/>
            <a:ext cx="5801082" cy="70746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Presentation Agenda</a:t>
            </a:r>
            <a:endParaRPr lang="en-US" sz="4450" dirty="0">
              <a:latin typeface="Times New Roman" panose="02020603050405020304" pitchFamily="18" charset="0"/>
              <a:cs typeface="Times New Roman" panose="02020603050405020304" pitchFamily="18" charset="0"/>
            </a:endParaRPr>
          </a:p>
        </p:txBody>
      </p:sp>
      <p:sp>
        <p:nvSpPr>
          <p:cNvPr id="61" name="Text 1">
            <a:extLst>
              <a:ext uri="{FF2B5EF4-FFF2-40B4-BE49-F238E27FC236}">
                <a16:creationId xmlns:a16="http://schemas.microsoft.com/office/drawing/2014/main" id="{84D2FDB1-A9FA-8AFC-D89C-18A72C327622}"/>
              </a:ext>
            </a:extLst>
          </p:cNvPr>
          <p:cNvSpPr/>
          <p:nvPr/>
        </p:nvSpPr>
        <p:spPr>
          <a:xfrm>
            <a:off x="792361" y="749260"/>
            <a:ext cx="226338" cy="28289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01</a:t>
            </a:r>
            <a:endParaRPr lang="en-US" sz="1750" dirty="0"/>
          </a:p>
        </p:txBody>
      </p:sp>
      <p:sp>
        <p:nvSpPr>
          <p:cNvPr id="62" name="Shape 2">
            <a:extLst>
              <a:ext uri="{FF2B5EF4-FFF2-40B4-BE49-F238E27FC236}">
                <a16:creationId xmlns:a16="http://schemas.microsoft.com/office/drawing/2014/main" id="{968EE283-EADE-224C-526F-54D8341AEACC}"/>
              </a:ext>
            </a:extLst>
          </p:cNvPr>
          <p:cNvSpPr/>
          <p:nvPr/>
        </p:nvSpPr>
        <p:spPr>
          <a:xfrm>
            <a:off x="792361" y="1084777"/>
            <a:ext cx="2344244" cy="45719"/>
          </a:xfrm>
          <a:prstGeom prst="rect">
            <a:avLst/>
          </a:prstGeom>
          <a:solidFill>
            <a:srgbClr val="4950BC"/>
          </a:solidFill>
          <a:ln/>
        </p:spPr>
        <p:txBody>
          <a:bodyPr/>
          <a:lstStyle/>
          <a:p>
            <a:endParaRPr lang="en-US"/>
          </a:p>
        </p:txBody>
      </p:sp>
      <p:sp>
        <p:nvSpPr>
          <p:cNvPr id="63" name="Text 3">
            <a:extLst>
              <a:ext uri="{FF2B5EF4-FFF2-40B4-BE49-F238E27FC236}">
                <a16:creationId xmlns:a16="http://schemas.microsoft.com/office/drawing/2014/main" id="{FC4F2DAF-EDEB-28FC-044D-C797F59D2FB5}"/>
              </a:ext>
            </a:extLst>
          </p:cNvPr>
          <p:cNvSpPr/>
          <p:nvPr/>
        </p:nvSpPr>
        <p:spPr>
          <a:xfrm>
            <a:off x="792361" y="1165086"/>
            <a:ext cx="2829997" cy="353735"/>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Introduction</a:t>
            </a:r>
            <a:endParaRPr lang="en-US" sz="2200" dirty="0">
              <a:latin typeface="Times New Roman" panose="02020603050405020304" pitchFamily="18" charset="0"/>
              <a:cs typeface="Times New Roman" panose="02020603050405020304" pitchFamily="18" charset="0"/>
            </a:endParaRPr>
          </a:p>
        </p:txBody>
      </p:sp>
      <p:sp>
        <p:nvSpPr>
          <p:cNvPr id="64" name="Text 4">
            <a:extLst>
              <a:ext uri="{FF2B5EF4-FFF2-40B4-BE49-F238E27FC236}">
                <a16:creationId xmlns:a16="http://schemas.microsoft.com/office/drawing/2014/main" id="{364877E2-E9BB-B13B-FBF0-2642E50BD6BF}"/>
              </a:ext>
            </a:extLst>
          </p:cNvPr>
          <p:cNvSpPr/>
          <p:nvPr/>
        </p:nvSpPr>
        <p:spPr>
          <a:xfrm>
            <a:off x="792360" y="1552635"/>
            <a:ext cx="2631324" cy="1112222"/>
          </a:xfrm>
          <a:prstGeom prst="rect">
            <a:avLst/>
          </a:prstGeom>
          <a:noFill/>
          <a:ln/>
        </p:spPr>
        <p:txBody>
          <a:bodyPr wrap="square" lIns="0" tIns="0" rIns="0" bIns="0" rtlCol="0" anchor="t"/>
          <a:lstStyle/>
          <a:p>
            <a:pPr marL="0" indent="0" algn="just">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Setting the context for the challenges freshers face.</a:t>
            </a:r>
            <a:endParaRPr lang="en-US" sz="1750" dirty="0">
              <a:latin typeface="Times New Roman" panose="02020603050405020304" pitchFamily="18" charset="0"/>
              <a:cs typeface="Times New Roman" panose="02020603050405020304" pitchFamily="18" charset="0"/>
            </a:endParaRPr>
          </a:p>
        </p:txBody>
      </p:sp>
      <p:sp>
        <p:nvSpPr>
          <p:cNvPr id="65" name="Text 5">
            <a:extLst>
              <a:ext uri="{FF2B5EF4-FFF2-40B4-BE49-F238E27FC236}">
                <a16:creationId xmlns:a16="http://schemas.microsoft.com/office/drawing/2014/main" id="{E3E3BF15-D2DC-9039-ED32-4797472B2EFE}"/>
              </a:ext>
            </a:extLst>
          </p:cNvPr>
          <p:cNvSpPr/>
          <p:nvPr/>
        </p:nvSpPr>
        <p:spPr>
          <a:xfrm>
            <a:off x="5216366" y="719553"/>
            <a:ext cx="226338" cy="28289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02</a:t>
            </a:r>
            <a:endParaRPr lang="en-US" sz="1750" dirty="0"/>
          </a:p>
        </p:txBody>
      </p:sp>
      <p:sp>
        <p:nvSpPr>
          <p:cNvPr id="66" name="Shape 6">
            <a:extLst>
              <a:ext uri="{FF2B5EF4-FFF2-40B4-BE49-F238E27FC236}">
                <a16:creationId xmlns:a16="http://schemas.microsoft.com/office/drawing/2014/main" id="{2200C893-CD7C-DF38-9BFB-77EE775BBC6C}"/>
              </a:ext>
            </a:extLst>
          </p:cNvPr>
          <p:cNvSpPr/>
          <p:nvPr/>
        </p:nvSpPr>
        <p:spPr>
          <a:xfrm flipV="1">
            <a:off x="5198645" y="1028045"/>
            <a:ext cx="2042127" cy="45719"/>
          </a:xfrm>
          <a:prstGeom prst="rect">
            <a:avLst/>
          </a:prstGeom>
          <a:solidFill>
            <a:srgbClr val="4950BC"/>
          </a:solidFill>
          <a:ln/>
        </p:spPr>
        <p:txBody>
          <a:bodyPr/>
          <a:lstStyle/>
          <a:p>
            <a:endParaRPr lang="en-US"/>
          </a:p>
        </p:txBody>
      </p:sp>
      <p:sp>
        <p:nvSpPr>
          <p:cNvPr id="67" name="Text 7">
            <a:extLst>
              <a:ext uri="{FF2B5EF4-FFF2-40B4-BE49-F238E27FC236}">
                <a16:creationId xmlns:a16="http://schemas.microsoft.com/office/drawing/2014/main" id="{DAA5504C-595A-F70D-6207-A61EE6B50DA3}"/>
              </a:ext>
            </a:extLst>
          </p:cNvPr>
          <p:cNvSpPr/>
          <p:nvPr/>
        </p:nvSpPr>
        <p:spPr>
          <a:xfrm>
            <a:off x="5198645" y="1179575"/>
            <a:ext cx="2829997" cy="353735"/>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Survey Overview</a:t>
            </a:r>
            <a:endParaRPr lang="en-US" sz="2200" dirty="0">
              <a:latin typeface="Times New Roman" panose="02020603050405020304" pitchFamily="18" charset="0"/>
              <a:cs typeface="Times New Roman" panose="02020603050405020304" pitchFamily="18" charset="0"/>
            </a:endParaRPr>
          </a:p>
        </p:txBody>
      </p:sp>
      <p:sp>
        <p:nvSpPr>
          <p:cNvPr id="68" name="Text 8">
            <a:extLst>
              <a:ext uri="{FF2B5EF4-FFF2-40B4-BE49-F238E27FC236}">
                <a16:creationId xmlns:a16="http://schemas.microsoft.com/office/drawing/2014/main" id="{AA2E574B-5ACC-4EAB-FE02-269F7DC25432}"/>
              </a:ext>
            </a:extLst>
          </p:cNvPr>
          <p:cNvSpPr/>
          <p:nvPr/>
        </p:nvSpPr>
        <p:spPr>
          <a:xfrm>
            <a:off x="5161430" y="1580647"/>
            <a:ext cx="2904425" cy="1349432"/>
          </a:xfrm>
          <a:prstGeom prst="rect">
            <a:avLst/>
          </a:prstGeom>
          <a:noFill/>
          <a:ln/>
        </p:spPr>
        <p:txBody>
          <a:bodyPr wrap="square" lIns="0" tIns="0" rIns="0" bIns="0" rtlCol="0" anchor="t"/>
          <a:lstStyle/>
          <a:p>
            <a:pPr marL="0" indent="0" algn="just">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Methodology and scope of the data collection.</a:t>
            </a:r>
            <a:endParaRPr lang="en-US" sz="1750" dirty="0">
              <a:latin typeface="Times New Roman" panose="02020603050405020304" pitchFamily="18" charset="0"/>
              <a:cs typeface="Times New Roman" panose="02020603050405020304" pitchFamily="18" charset="0"/>
            </a:endParaRPr>
          </a:p>
        </p:txBody>
      </p:sp>
      <p:sp>
        <p:nvSpPr>
          <p:cNvPr id="69" name="Text 9">
            <a:extLst>
              <a:ext uri="{FF2B5EF4-FFF2-40B4-BE49-F238E27FC236}">
                <a16:creationId xmlns:a16="http://schemas.microsoft.com/office/drawing/2014/main" id="{5BB8F2A7-DF2D-6E66-F5DE-610E3C7213E8}"/>
              </a:ext>
            </a:extLst>
          </p:cNvPr>
          <p:cNvSpPr/>
          <p:nvPr/>
        </p:nvSpPr>
        <p:spPr>
          <a:xfrm>
            <a:off x="8866377" y="719553"/>
            <a:ext cx="405214" cy="260904"/>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03</a:t>
            </a:r>
            <a:endParaRPr lang="en-US" sz="1750" dirty="0"/>
          </a:p>
        </p:txBody>
      </p:sp>
      <p:sp>
        <p:nvSpPr>
          <p:cNvPr id="70" name="Shape 10">
            <a:extLst>
              <a:ext uri="{FF2B5EF4-FFF2-40B4-BE49-F238E27FC236}">
                <a16:creationId xmlns:a16="http://schemas.microsoft.com/office/drawing/2014/main" id="{AB3698B3-058B-E125-A415-2630E41E9A75}"/>
              </a:ext>
            </a:extLst>
          </p:cNvPr>
          <p:cNvSpPr/>
          <p:nvPr/>
        </p:nvSpPr>
        <p:spPr>
          <a:xfrm>
            <a:off x="8866377" y="1044834"/>
            <a:ext cx="2554341" cy="45719"/>
          </a:xfrm>
          <a:prstGeom prst="rect">
            <a:avLst/>
          </a:prstGeom>
          <a:solidFill>
            <a:srgbClr val="4950BC"/>
          </a:solidFill>
          <a:ln/>
        </p:spPr>
        <p:txBody>
          <a:bodyPr/>
          <a:lstStyle/>
          <a:p>
            <a:endParaRPr lang="en-US"/>
          </a:p>
        </p:txBody>
      </p:sp>
      <p:sp>
        <p:nvSpPr>
          <p:cNvPr id="71" name="Text 11">
            <a:extLst>
              <a:ext uri="{FF2B5EF4-FFF2-40B4-BE49-F238E27FC236}">
                <a16:creationId xmlns:a16="http://schemas.microsoft.com/office/drawing/2014/main" id="{7EF1A9D2-D40C-ACB3-4ECA-E450B516E843}"/>
              </a:ext>
            </a:extLst>
          </p:cNvPr>
          <p:cNvSpPr/>
          <p:nvPr/>
        </p:nvSpPr>
        <p:spPr>
          <a:xfrm>
            <a:off x="8733315" y="1154930"/>
            <a:ext cx="2829997" cy="353735"/>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Key Observation 1</a:t>
            </a:r>
            <a:endParaRPr lang="en-US" sz="2200" dirty="0">
              <a:latin typeface="Times New Roman" panose="02020603050405020304" pitchFamily="18" charset="0"/>
              <a:cs typeface="Times New Roman" panose="02020603050405020304" pitchFamily="18" charset="0"/>
            </a:endParaRPr>
          </a:p>
        </p:txBody>
      </p:sp>
      <p:sp>
        <p:nvSpPr>
          <p:cNvPr id="72" name="Text 12">
            <a:extLst>
              <a:ext uri="{FF2B5EF4-FFF2-40B4-BE49-F238E27FC236}">
                <a16:creationId xmlns:a16="http://schemas.microsoft.com/office/drawing/2014/main" id="{D6E004B7-3DA0-B335-8DF3-AEF936C5F140}"/>
              </a:ext>
            </a:extLst>
          </p:cNvPr>
          <p:cNvSpPr/>
          <p:nvPr/>
        </p:nvSpPr>
        <p:spPr>
          <a:xfrm>
            <a:off x="8768318" y="1470056"/>
            <a:ext cx="3118882" cy="1086370"/>
          </a:xfrm>
          <a:prstGeom prst="rect">
            <a:avLst/>
          </a:prstGeom>
          <a:noFill/>
          <a:ln/>
        </p:spPr>
        <p:txBody>
          <a:bodyPr wrap="square" lIns="0" tIns="0" rIns="0" bIns="0" rtlCol="0" anchor="t"/>
          <a:lstStyle/>
          <a:p>
            <a:pPr marL="0" indent="0" algn="just">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Analysis of major problems distribution among freshers.</a:t>
            </a:r>
            <a:endParaRPr lang="en-US" sz="1750" dirty="0">
              <a:latin typeface="Times New Roman" panose="02020603050405020304" pitchFamily="18" charset="0"/>
              <a:cs typeface="Times New Roman" panose="02020603050405020304" pitchFamily="18" charset="0"/>
            </a:endParaRPr>
          </a:p>
        </p:txBody>
      </p:sp>
      <p:sp>
        <p:nvSpPr>
          <p:cNvPr id="73" name="Text 13">
            <a:extLst>
              <a:ext uri="{FF2B5EF4-FFF2-40B4-BE49-F238E27FC236}">
                <a16:creationId xmlns:a16="http://schemas.microsoft.com/office/drawing/2014/main" id="{40C25A18-5CA6-B027-9C3D-0FA05DBC40BF}"/>
              </a:ext>
            </a:extLst>
          </p:cNvPr>
          <p:cNvSpPr/>
          <p:nvPr/>
        </p:nvSpPr>
        <p:spPr>
          <a:xfrm>
            <a:off x="792361" y="3074848"/>
            <a:ext cx="226338" cy="28289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04</a:t>
            </a:r>
            <a:endParaRPr lang="en-US" sz="1750" dirty="0"/>
          </a:p>
        </p:txBody>
      </p:sp>
      <p:sp>
        <p:nvSpPr>
          <p:cNvPr id="74" name="Shape 14">
            <a:extLst>
              <a:ext uri="{FF2B5EF4-FFF2-40B4-BE49-F238E27FC236}">
                <a16:creationId xmlns:a16="http://schemas.microsoft.com/office/drawing/2014/main" id="{6436C48A-3E76-CC77-3CEF-E3F0836179FC}"/>
              </a:ext>
            </a:extLst>
          </p:cNvPr>
          <p:cNvSpPr/>
          <p:nvPr/>
        </p:nvSpPr>
        <p:spPr>
          <a:xfrm>
            <a:off x="792360" y="3426925"/>
            <a:ext cx="2344244" cy="45719"/>
          </a:xfrm>
          <a:prstGeom prst="rect">
            <a:avLst/>
          </a:prstGeom>
          <a:solidFill>
            <a:srgbClr val="4950BC"/>
          </a:solidFill>
          <a:ln/>
        </p:spPr>
        <p:txBody>
          <a:bodyPr/>
          <a:lstStyle/>
          <a:p>
            <a:endParaRPr lang="en-US"/>
          </a:p>
        </p:txBody>
      </p:sp>
      <p:sp>
        <p:nvSpPr>
          <p:cNvPr id="75" name="Text 15">
            <a:extLst>
              <a:ext uri="{FF2B5EF4-FFF2-40B4-BE49-F238E27FC236}">
                <a16:creationId xmlns:a16="http://schemas.microsoft.com/office/drawing/2014/main" id="{9991B0B2-C5DE-096C-6A85-998F8067EA41}"/>
              </a:ext>
            </a:extLst>
          </p:cNvPr>
          <p:cNvSpPr/>
          <p:nvPr/>
        </p:nvSpPr>
        <p:spPr>
          <a:xfrm>
            <a:off x="792361" y="3684725"/>
            <a:ext cx="2829997" cy="353735"/>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Key Observation 2</a:t>
            </a:r>
            <a:endParaRPr lang="en-US" sz="2200" dirty="0">
              <a:latin typeface="Times New Roman" panose="02020603050405020304" pitchFamily="18" charset="0"/>
              <a:cs typeface="Times New Roman" panose="02020603050405020304" pitchFamily="18" charset="0"/>
            </a:endParaRPr>
          </a:p>
        </p:txBody>
      </p:sp>
      <p:sp>
        <p:nvSpPr>
          <p:cNvPr id="76" name="Text 16">
            <a:extLst>
              <a:ext uri="{FF2B5EF4-FFF2-40B4-BE49-F238E27FC236}">
                <a16:creationId xmlns:a16="http://schemas.microsoft.com/office/drawing/2014/main" id="{2F227CDB-C01B-E677-D5C3-977CEF9AB33B}"/>
              </a:ext>
            </a:extLst>
          </p:cNvPr>
          <p:cNvSpPr/>
          <p:nvPr/>
        </p:nvSpPr>
        <p:spPr>
          <a:xfrm>
            <a:off x="792360" y="4091006"/>
            <a:ext cx="2829997" cy="724614"/>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In-depth analysis of student stress levels.</a:t>
            </a:r>
            <a:endParaRPr lang="en-US" sz="1750" dirty="0">
              <a:latin typeface="Times New Roman" panose="02020603050405020304" pitchFamily="18" charset="0"/>
              <a:cs typeface="Times New Roman" panose="02020603050405020304" pitchFamily="18" charset="0"/>
            </a:endParaRPr>
          </a:p>
        </p:txBody>
      </p:sp>
      <p:sp>
        <p:nvSpPr>
          <p:cNvPr id="77" name="Text 17">
            <a:extLst>
              <a:ext uri="{FF2B5EF4-FFF2-40B4-BE49-F238E27FC236}">
                <a16:creationId xmlns:a16="http://schemas.microsoft.com/office/drawing/2014/main" id="{5EDD3F37-B73F-A53D-7F70-CAF75B002838}"/>
              </a:ext>
            </a:extLst>
          </p:cNvPr>
          <p:cNvSpPr/>
          <p:nvPr/>
        </p:nvSpPr>
        <p:spPr>
          <a:xfrm>
            <a:off x="5216366" y="3092975"/>
            <a:ext cx="226338" cy="28289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05</a:t>
            </a:r>
            <a:endParaRPr lang="en-US" sz="1750" dirty="0"/>
          </a:p>
        </p:txBody>
      </p:sp>
      <p:sp>
        <p:nvSpPr>
          <p:cNvPr id="78" name="Shape 18">
            <a:extLst>
              <a:ext uri="{FF2B5EF4-FFF2-40B4-BE49-F238E27FC236}">
                <a16:creationId xmlns:a16="http://schemas.microsoft.com/office/drawing/2014/main" id="{194CB0AC-F24A-BE1E-69BF-AE2D5CE55BF6}"/>
              </a:ext>
            </a:extLst>
          </p:cNvPr>
          <p:cNvSpPr/>
          <p:nvPr/>
        </p:nvSpPr>
        <p:spPr>
          <a:xfrm flipV="1">
            <a:off x="5161430" y="3424458"/>
            <a:ext cx="1939346" cy="48186"/>
          </a:xfrm>
          <a:prstGeom prst="rect">
            <a:avLst/>
          </a:prstGeom>
          <a:solidFill>
            <a:srgbClr val="4950BC"/>
          </a:solidFill>
          <a:ln/>
        </p:spPr>
        <p:txBody>
          <a:bodyPr/>
          <a:lstStyle/>
          <a:p>
            <a:endParaRPr lang="en-US"/>
          </a:p>
        </p:txBody>
      </p:sp>
      <p:sp>
        <p:nvSpPr>
          <p:cNvPr id="79" name="Text 19">
            <a:extLst>
              <a:ext uri="{FF2B5EF4-FFF2-40B4-BE49-F238E27FC236}">
                <a16:creationId xmlns:a16="http://schemas.microsoft.com/office/drawing/2014/main" id="{FFBC28EB-FB64-22B1-2921-971F1CBB5AB6}"/>
              </a:ext>
            </a:extLst>
          </p:cNvPr>
          <p:cNvSpPr/>
          <p:nvPr/>
        </p:nvSpPr>
        <p:spPr>
          <a:xfrm>
            <a:off x="5150239" y="3656235"/>
            <a:ext cx="2829997" cy="353735"/>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Key Observation 3</a:t>
            </a:r>
            <a:endParaRPr lang="en-US" sz="2200" dirty="0">
              <a:latin typeface="Times New Roman" panose="02020603050405020304" pitchFamily="18" charset="0"/>
              <a:cs typeface="Times New Roman" panose="02020603050405020304" pitchFamily="18" charset="0"/>
            </a:endParaRPr>
          </a:p>
        </p:txBody>
      </p:sp>
      <p:sp>
        <p:nvSpPr>
          <p:cNvPr id="80" name="Text 20">
            <a:extLst>
              <a:ext uri="{FF2B5EF4-FFF2-40B4-BE49-F238E27FC236}">
                <a16:creationId xmlns:a16="http://schemas.microsoft.com/office/drawing/2014/main" id="{4D373175-10B3-0B7B-C212-6B7BFFC93385}"/>
              </a:ext>
            </a:extLst>
          </p:cNvPr>
          <p:cNvSpPr/>
          <p:nvPr/>
        </p:nvSpPr>
        <p:spPr>
          <a:xfrm>
            <a:off x="5150238" y="4035688"/>
            <a:ext cx="2987921" cy="1080646"/>
          </a:xfrm>
          <a:prstGeom prst="rect">
            <a:avLst/>
          </a:prstGeom>
          <a:noFill/>
          <a:ln/>
        </p:spPr>
        <p:txBody>
          <a:bodyPr wrap="square" lIns="0" tIns="0" rIns="0" bIns="0" rtlCol="0" anchor="t"/>
          <a:lstStyle/>
          <a:p>
            <a:pPr marL="0" indent="0" algn="just">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Context of prior academic performance as a baseline.</a:t>
            </a:r>
            <a:endParaRPr lang="en-US" sz="1750" dirty="0">
              <a:latin typeface="Times New Roman" panose="02020603050405020304" pitchFamily="18" charset="0"/>
              <a:cs typeface="Times New Roman" panose="02020603050405020304" pitchFamily="18" charset="0"/>
            </a:endParaRPr>
          </a:p>
        </p:txBody>
      </p:sp>
      <p:sp>
        <p:nvSpPr>
          <p:cNvPr id="81" name="Text 21">
            <a:extLst>
              <a:ext uri="{FF2B5EF4-FFF2-40B4-BE49-F238E27FC236}">
                <a16:creationId xmlns:a16="http://schemas.microsoft.com/office/drawing/2014/main" id="{760BC7F6-BA7C-2EC8-E6E4-1D822FC997D5}"/>
              </a:ext>
            </a:extLst>
          </p:cNvPr>
          <p:cNvSpPr/>
          <p:nvPr/>
        </p:nvSpPr>
        <p:spPr>
          <a:xfrm>
            <a:off x="8842646" y="3054326"/>
            <a:ext cx="226338" cy="28289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06</a:t>
            </a:r>
            <a:endParaRPr lang="en-US" sz="1750" dirty="0"/>
          </a:p>
        </p:txBody>
      </p:sp>
      <p:sp>
        <p:nvSpPr>
          <p:cNvPr id="82" name="Shape 22">
            <a:extLst>
              <a:ext uri="{FF2B5EF4-FFF2-40B4-BE49-F238E27FC236}">
                <a16:creationId xmlns:a16="http://schemas.microsoft.com/office/drawing/2014/main" id="{7BCD732B-FB96-5286-95B8-D033402CC0C7}"/>
              </a:ext>
            </a:extLst>
          </p:cNvPr>
          <p:cNvSpPr/>
          <p:nvPr/>
        </p:nvSpPr>
        <p:spPr>
          <a:xfrm flipV="1">
            <a:off x="8842646" y="3431526"/>
            <a:ext cx="2195703" cy="45719"/>
          </a:xfrm>
          <a:prstGeom prst="rect">
            <a:avLst/>
          </a:prstGeom>
          <a:solidFill>
            <a:srgbClr val="4950BC"/>
          </a:solidFill>
          <a:ln/>
        </p:spPr>
        <p:txBody>
          <a:bodyPr/>
          <a:lstStyle/>
          <a:p>
            <a:endParaRPr lang="en-US"/>
          </a:p>
        </p:txBody>
      </p:sp>
      <p:sp>
        <p:nvSpPr>
          <p:cNvPr id="83" name="Text 23">
            <a:extLst>
              <a:ext uri="{FF2B5EF4-FFF2-40B4-BE49-F238E27FC236}">
                <a16:creationId xmlns:a16="http://schemas.microsoft.com/office/drawing/2014/main" id="{EA3EAD9A-070F-D5DA-B7F3-9E4338480CB1}"/>
              </a:ext>
            </a:extLst>
          </p:cNvPr>
          <p:cNvSpPr/>
          <p:nvPr/>
        </p:nvSpPr>
        <p:spPr>
          <a:xfrm>
            <a:off x="8733314" y="3538727"/>
            <a:ext cx="3345271" cy="353735"/>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Findings and Discussion</a:t>
            </a:r>
            <a:endParaRPr lang="en-US" sz="2200" dirty="0">
              <a:latin typeface="Times New Roman" panose="02020603050405020304" pitchFamily="18" charset="0"/>
              <a:cs typeface="Times New Roman" panose="02020603050405020304" pitchFamily="18" charset="0"/>
            </a:endParaRPr>
          </a:p>
        </p:txBody>
      </p:sp>
      <p:sp>
        <p:nvSpPr>
          <p:cNvPr id="84" name="Text 24">
            <a:extLst>
              <a:ext uri="{FF2B5EF4-FFF2-40B4-BE49-F238E27FC236}">
                <a16:creationId xmlns:a16="http://schemas.microsoft.com/office/drawing/2014/main" id="{A67655FF-AB03-A6AB-CEF5-4C908B003063}"/>
              </a:ext>
            </a:extLst>
          </p:cNvPr>
          <p:cNvSpPr/>
          <p:nvPr/>
        </p:nvSpPr>
        <p:spPr>
          <a:xfrm>
            <a:off x="8733314" y="3945732"/>
            <a:ext cx="3625702" cy="1170602"/>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Analyzing the root causes and implications of the survey results.</a:t>
            </a:r>
            <a:endParaRPr lang="en-US" sz="1750" dirty="0">
              <a:latin typeface="Times New Roman" panose="02020603050405020304" pitchFamily="18" charset="0"/>
              <a:cs typeface="Times New Roman" panose="02020603050405020304" pitchFamily="18" charset="0"/>
            </a:endParaRPr>
          </a:p>
        </p:txBody>
      </p:sp>
      <p:sp>
        <p:nvSpPr>
          <p:cNvPr id="85" name="Text 25">
            <a:extLst>
              <a:ext uri="{FF2B5EF4-FFF2-40B4-BE49-F238E27FC236}">
                <a16:creationId xmlns:a16="http://schemas.microsoft.com/office/drawing/2014/main" id="{86114C3D-E841-726D-FB1C-9C9162A9C471}"/>
              </a:ext>
            </a:extLst>
          </p:cNvPr>
          <p:cNvSpPr/>
          <p:nvPr/>
        </p:nvSpPr>
        <p:spPr>
          <a:xfrm>
            <a:off x="792360" y="4868167"/>
            <a:ext cx="462281" cy="1474532"/>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Light" pitchFamily="34" charset="0"/>
                <a:ea typeface="Inter Light" pitchFamily="34" charset="-122"/>
                <a:cs typeface="Inter Light" pitchFamily="34" charset="-120"/>
              </a:rPr>
              <a:t>07</a:t>
            </a:r>
            <a:endParaRPr lang="en-US" sz="1750" dirty="0"/>
          </a:p>
        </p:txBody>
      </p:sp>
      <p:sp>
        <p:nvSpPr>
          <p:cNvPr id="86" name="Shape 26">
            <a:extLst>
              <a:ext uri="{FF2B5EF4-FFF2-40B4-BE49-F238E27FC236}">
                <a16:creationId xmlns:a16="http://schemas.microsoft.com/office/drawing/2014/main" id="{989CDFB3-99C5-CAA5-FBA8-128C6B55E19D}"/>
              </a:ext>
            </a:extLst>
          </p:cNvPr>
          <p:cNvSpPr/>
          <p:nvPr/>
        </p:nvSpPr>
        <p:spPr>
          <a:xfrm>
            <a:off x="717933" y="5320904"/>
            <a:ext cx="2829997" cy="45719"/>
          </a:xfrm>
          <a:prstGeom prst="rect">
            <a:avLst/>
          </a:prstGeom>
          <a:solidFill>
            <a:srgbClr val="4950BC"/>
          </a:solidFill>
          <a:ln/>
        </p:spPr>
        <p:txBody>
          <a:bodyPr/>
          <a:lstStyle/>
          <a:p>
            <a:endParaRPr lang="en-US"/>
          </a:p>
        </p:txBody>
      </p:sp>
      <p:sp>
        <p:nvSpPr>
          <p:cNvPr id="87" name="Text 27">
            <a:extLst>
              <a:ext uri="{FF2B5EF4-FFF2-40B4-BE49-F238E27FC236}">
                <a16:creationId xmlns:a16="http://schemas.microsoft.com/office/drawing/2014/main" id="{52026FF4-7D77-C5F7-E424-80A03F1D75B8}"/>
              </a:ext>
            </a:extLst>
          </p:cNvPr>
          <p:cNvSpPr/>
          <p:nvPr/>
        </p:nvSpPr>
        <p:spPr>
          <a:xfrm>
            <a:off x="643505" y="5395653"/>
            <a:ext cx="3621048" cy="353735"/>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Conclusion &amp; Suggestions</a:t>
            </a:r>
            <a:endParaRPr lang="en-US" sz="2200" dirty="0">
              <a:latin typeface="Times New Roman" panose="02020603050405020304" pitchFamily="18" charset="0"/>
              <a:cs typeface="Times New Roman" panose="02020603050405020304" pitchFamily="18" charset="0"/>
            </a:endParaRPr>
          </a:p>
        </p:txBody>
      </p:sp>
      <p:sp>
        <p:nvSpPr>
          <p:cNvPr id="89" name="Rectangle 88">
            <a:extLst>
              <a:ext uri="{FF2B5EF4-FFF2-40B4-BE49-F238E27FC236}">
                <a16:creationId xmlns:a16="http://schemas.microsoft.com/office/drawing/2014/main" id="{264FBA30-33F5-3F6E-4FE8-D1BBC1D2F843}"/>
              </a:ext>
            </a:extLst>
          </p:cNvPr>
          <p:cNvSpPr/>
          <p:nvPr/>
        </p:nvSpPr>
        <p:spPr>
          <a:xfrm>
            <a:off x="643505" y="5749389"/>
            <a:ext cx="10393090" cy="425245"/>
          </a:xfrm>
          <a:prstGeom prst="rect">
            <a:avLst/>
          </a:prstGeom>
          <a:noFill/>
        </p:spPr>
        <p:txBody>
          <a:bodyPr wrap="square" lIns="91440" tIns="45720" rIns="91440" bIns="45720">
            <a:spAutoFit/>
          </a:bodyPr>
          <a:lstStyle/>
          <a:p>
            <a:pPr>
              <a:lnSpc>
                <a:spcPts val="2850"/>
              </a:lnSpc>
            </a:pPr>
            <a:r>
              <a:rPr lang="en-US" sz="1800" dirty="0">
                <a:solidFill>
                  <a:srgbClr val="272525"/>
                </a:solidFill>
                <a:latin typeface="Times New Roman" panose="02020603050405020304" pitchFamily="18" charset="0"/>
                <a:ea typeface="Inter" pitchFamily="34" charset="-122"/>
                <a:cs typeface="Times New Roman" panose="02020603050405020304" pitchFamily="18" charset="0"/>
              </a:rPr>
              <a:t>Recommended actions for supporting freshers and improving their university experience.</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500">
        <p15:prstTrans prst="drap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41"/>
        <p:cNvGrpSpPr/>
        <p:nvPr/>
      </p:nvGrpSpPr>
      <p:grpSpPr>
        <a:xfrm>
          <a:off x="0" y="0"/>
          <a:ext cx="0" cy="0"/>
          <a:chOff x="0" y="0"/>
          <a:chExt cx="0" cy="0"/>
        </a:xfrm>
      </p:grpSpPr>
      <p:pic>
        <p:nvPicPr>
          <p:cNvPr id="143" name="Google Shape;143;p17" descr="image.png"/>
          <p:cNvPicPr preferRelativeResize="0"/>
          <p:nvPr/>
        </p:nvPicPr>
        <p:blipFill rotWithShape="1">
          <a:blip r:embed="rId3">
            <a:alphaModFix/>
          </a:blip>
          <a:srcRect/>
          <a:stretch/>
        </p:blipFill>
        <p:spPr>
          <a:xfrm>
            <a:off x="571500" y="2228850"/>
            <a:ext cx="3492549" cy="3352800"/>
          </a:xfrm>
          <a:prstGeom prst="rect">
            <a:avLst/>
          </a:prstGeom>
          <a:noFill/>
          <a:ln>
            <a:noFill/>
          </a:ln>
        </p:spPr>
      </p:pic>
      <p:pic>
        <p:nvPicPr>
          <p:cNvPr id="144" name="Google Shape;144;p17" descr="image.png"/>
          <p:cNvPicPr preferRelativeResize="0"/>
          <p:nvPr/>
        </p:nvPicPr>
        <p:blipFill rotWithShape="1">
          <a:blip r:embed="rId4">
            <a:alphaModFix/>
          </a:blip>
          <a:srcRect/>
          <a:stretch/>
        </p:blipFill>
        <p:spPr>
          <a:xfrm>
            <a:off x="4349799" y="2228850"/>
            <a:ext cx="3492549" cy="3352800"/>
          </a:xfrm>
          <a:prstGeom prst="rect">
            <a:avLst/>
          </a:prstGeom>
          <a:noFill/>
          <a:ln>
            <a:noFill/>
          </a:ln>
        </p:spPr>
      </p:pic>
      <p:pic>
        <p:nvPicPr>
          <p:cNvPr id="145" name="Google Shape;145;p17" descr="image.png"/>
          <p:cNvPicPr preferRelativeResize="0"/>
          <p:nvPr/>
        </p:nvPicPr>
        <p:blipFill rotWithShape="1">
          <a:blip r:embed="rId5">
            <a:alphaModFix/>
          </a:blip>
          <a:srcRect/>
          <a:stretch/>
        </p:blipFill>
        <p:spPr>
          <a:xfrm>
            <a:off x="8128099" y="2228850"/>
            <a:ext cx="3492549" cy="3352800"/>
          </a:xfrm>
          <a:prstGeom prst="rect">
            <a:avLst/>
          </a:prstGeom>
          <a:noFill/>
          <a:ln>
            <a:noFill/>
          </a:ln>
        </p:spPr>
      </p:pic>
      <p:sp>
        <p:nvSpPr>
          <p:cNvPr id="146" name="Google Shape;146;p17"/>
          <p:cNvSpPr txBox="1"/>
          <p:nvPr/>
        </p:nvSpPr>
        <p:spPr>
          <a:xfrm>
            <a:off x="1977657" y="3228975"/>
            <a:ext cx="680085"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F3F0DF"/>
                </a:solidFill>
                <a:latin typeface="Times New Roman" panose="02020603050405020304" pitchFamily="18" charset="0"/>
                <a:ea typeface="Merriweather"/>
                <a:cs typeface="Times New Roman" panose="02020603050405020304" pitchFamily="18" charset="0"/>
                <a:sym typeface="Merriweather"/>
              </a:rPr>
              <a:t>Scope</a:t>
            </a:r>
            <a:endParaRPr dirty="0">
              <a:latin typeface="Times New Roman" panose="02020603050405020304" pitchFamily="18" charset="0"/>
              <a:cs typeface="Times New Roman" panose="02020603050405020304" pitchFamily="18" charset="0"/>
            </a:endParaRPr>
          </a:p>
        </p:txBody>
      </p:sp>
      <p:sp>
        <p:nvSpPr>
          <p:cNvPr id="147" name="Google Shape;147;p17"/>
          <p:cNvSpPr txBox="1"/>
          <p:nvPr/>
        </p:nvSpPr>
        <p:spPr>
          <a:xfrm>
            <a:off x="857250" y="3838575"/>
            <a:ext cx="2921049" cy="12464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dirty="0">
                <a:solidFill>
                  <a:srgbClr val="F3F0DF"/>
                </a:solidFill>
                <a:latin typeface="Times New Roman" panose="02020603050405020304" pitchFamily="18" charset="0"/>
                <a:ea typeface="DM Sans"/>
                <a:cs typeface="Times New Roman" panose="02020603050405020304" pitchFamily="18" charset="0"/>
                <a:sym typeface="DM Sans"/>
              </a:rPr>
              <a:t>Survey titled "University Fresher Problem Report" was conducted to analyze common issues for first-year students </a:t>
            </a:r>
            <a:r>
              <a:rPr lang="en-US" sz="1350" dirty="0">
                <a:solidFill>
                  <a:srgbClr val="F3F0DF"/>
                </a:solidFill>
                <a:latin typeface="Times New Roman" panose="02020603050405020304" pitchFamily="18" charset="0"/>
                <a:ea typeface="DM Sans"/>
                <a:cs typeface="Times New Roman" panose="02020603050405020304" pitchFamily="18" charset="0"/>
                <a:sym typeface="DM Sans"/>
              </a:rPr>
              <a:t>at  Universities</a:t>
            </a:r>
            <a:endParaRPr dirty="0">
              <a:latin typeface="Times New Roman" panose="02020603050405020304" pitchFamily="18" charset="0"/>
              <a:cs typeface="Times New Roman" panose="02020603050405020304" pitchFamily="18" charset="0"/>
            </a:endParaRPr>
          </a:p>
        </p:txBody>
      </p:sp>
      <p:sp>
        <p:nvSpPr>
          <p:cNvPr id="148" name="Google Shape;148;p17"/>
          <p:cNvSpPr txBox="1"/>
          <p:nvPr/>
        </p:nvSpPr>
        <p:spPr>
          <a:xfrm>
            <a:off x="5630941" y="3228975"/>
            <a:ext cx="930116"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F3F0DF"/>
                </a:solidFill>
                <a:latin typeface="Times New Roman" panose="02020603050405020304" pitchFamily="18" charset="0"/>
                <a:ea typeface="Merriweather"/>
                <a:cs typeface="Times New Roman" panose="02020603050405020304" pitchFamily="18" charset="0"/>
                <a:sym typeface="Merriweather"/>
              </a:rPr>
              <a:t>Method</a:t>
            </a:r>
            <a:endParaRPr>
              <a:latin typeface="Times New Roman" panose="02020603050405020304" pitchFamily="18" charset="0"/>
              <a:cs typeface="Times New Roman" panose="02020603050405020304" pitchFamily="18" charset="0"/>
            </a:endParaRPr>
          </a:p>
        </p:txBody>
      </p:sp>
      <p:sp>
        <p:nvSpPr>
          <p:cNvPr id="149" name="Google Shape;149;p17"/>
          <p:cNvSpPr txBox="1"/>
          <p:nvPr/>
        </p:nvSpPr>
        <p:spPr>
          <a:xfrm>
            <a:off x="4635549" y="3838575"/>
            <a:ext cx="2921049" cy="12464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dirty="0">
                <a:solidFill>
                  <a:srgbClr val="F3F0DF"/>
                </a:solidFill>
                <a:latin typeface="Times New Roman" panose="02020603050405020304" pitchFamily="18" charset="0"/>
                <a:ea typeface="DM Sans"/>
                <a:cs typeface="Times New Roman" panose="02020603050405020304" pitchFamily="18" charset="0"/>
                <a:sym typeface="DM Sans"/>
              </a:rPr>
              <a:t>More than </a:t>
            </a:r>
            <a:r>
              <a:rPr lang="en-US" sz="1350" dirty="0">
                <a:solidFill>
                  <a:srgbClr val="F3F0DF"/>
                </a:solidFill>
                <a:latin typeface="Times New Roman" panose="02020603050405020304" pitchFamily="18" charset="0"/>
                <a:ea typeface="DM Sans"/>
                <a:cs typeface="Times New Roman" panose="02020603050405020304" pitchFamily="18" charset="0"/>
                <a:sym typeface="DM Sans"/>
              </a:rPr>
              <a:t>30 </a:t>
            </a:r>
            <a:r>
              <a:rPr lang="en-US" sz="1350" b="0" i="0" u="none" strike="noStrike" cap="none" dirty="0">
                <a:solidFill>
                  <a:srgbClr val="F3F0DF"/>
                </a:solidFill>
                <a:latin typeface="Times New Roman" panose="02020603050405020304" pitchFamily="18" charset="0"/>
                <a:ea typeface="DM Sans"/>
                <a:cs typeface="Times New Roman" panose="02020603050405020304" pitchFamily="18" charset="0"/>
                <a:sym typeface="DM Sans"/>
              </a:rPr>
              <a:t>responses were gathered using Google Forms, ensuring a variety of feedback from different departments and backgrounds.</a:t>
            </a:r>
            <a:endParaRPr dirty="0">
              <a:latin typeface="Times New Roman" panose="02020603050405020304" pitchFamily="18" charset="0"/>
              <a:cs typeface="Times New Roman" panose="02020603050405020304" pitchFamily="18" charset="0"/>
            </a:endParaRPr>
          </a:p>
        </p:txBody>
      </p:sp>
      <p:sp>
        <p:nvSpPr>
          <p:cNvPr id="150" name="Google Shape;150;p17"/>
          <p:cNvSpPr txBox="1"/>
          <p:nvPr/>
        </p:nvSpPr>
        <p:spPr>
          <a:xfrm>
            <a:off x="9289226" y="3228975"/>
            <a:ext cx="1170146"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F3F0DF"/>
                </a:solidFill>
                <a:latin typeface="Times New Roman" panose="02020603050405020304" pitchFamily="18" charset="0"/>
                <a:ea typeface="Merriweather"/>
                <a:cs typeface="Times New Roman" panose="02020603050405020304" pitchFamily="18" charset="0"/>
                <a:sym typeface="Merriweather"/>
              </a:rPr>
              <a:t>Key Areas</a:t>
            </a:r>
            <a:endParaRPr>
              <a:latin typeface="Times New Roman" panose="02020603050405020304" pitchFamily="18" charset="0"/>
              <a:cs typeface="Times New Roman" panose="02020603050405020304" pitchFamily="18" charset="0"/>
            </a:endParaRPr>
          </a:p>
        </p:txBody>
      </p:sp>
      <p:sp>
        <p:nvSpPr>
          <p:cNvPr id="151" name="Google Shape;151;p17"/>
          <p:cNvSpPr txBox="1"/>
          <p:nvPr/>
        </p:nvSpPr>
        <p:spPr>
          <a:xfrm>
            <a:off x="8413849" y="3838575"/>
            <a:ext cx="2921049" cy="934871"/>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F3F0DF"/>
                </a:solidFill>
                <a:latin typeface="Times New Roman" panose="02020603050405020304" pitchFamily="18" charset="0"/>
                <a:ea typeface="DM Sans"/>
                <a:cs typeface="Times New Roman" panose="02020603050405020304" pitchFamily="18" charset="0"/>
                <a:sym typeface="DM Sans"/>
              </a:rPr>
              <a:t>Concerns were primarily grouped into social/academic adjustment, workload, time management, and accommodation.</a:t>
            </a:r>
            <a:endParaRPr>
              <a:latin typeface="Times New Roman" panose="02020603050405020304" pitchFamily="18" charset="0"/>
              <a:cs typeface="Times New Roman" panose="02020603050405020304" pitchFamily="18" charset="0"/>
            </a:endParaRPr>
          </a:p>
        </p:txBody>
      </p:sp>
      <p:pic>
        <p:nvPicPr>
          <p:cNvPr id="152" name="Google Shape;152;p17" descr="image.png"/>
          <p:cNvPicPr preferRelativeResize="0"/>
          <p:nvPr/>
        </p:nvPicPr>
        <p:blipFill rotWithShape="1">
          <a:blip r:embed="rId6">
            <a:alphaModFix/>
          </a:blip>
          <a:srcRect/>
          <a:stretch/>
        </p:blipFill>
        <p:spPr>
          <a:xfrm>
            <a:off x="2031950" y="2533650"/>
            <a:ext cx="571500" cy="457200"/>
          </a:xfrm>
          <a:prstGeom prst="rect">
            <a:avLst/>
          </a:prstGeom>
          <a:noFill/>
          <a:ln>
            <a:noFill/>
          </a:ln>
        </p:spPr>
      </p:pic>
      <p:pic>
        <p:nvPicPr>
          <p:cNvPr id="153" name="Google Shape;153;p17" descr="image.png"/>
          <p:cNvPicPr preferRelativeResize="0"/>
          <p:nvPr/>
        </p:nvPicPr>
        <p:blipFill rotWithShape="1">
          <a:blip r:embed="rId7">
            <a:alphaModFix/>
          </a:blip>
          <a:srcRect/>
          <a:stretch/>
        </p:blipFill>
        <p:spPr>
          <a:xfrm>
            <a:off x="5867400" y="2533650"/>
            <a:ext cx="457200" cy="457200"/>
          </a:xfrm>
          <a:prstGeom prst="rect">
            <a:avLst/>
          </a:prstGeom>
          <a:noFill/>
          <a:ln>
            <a:noFill/>
          </a:ln>
        </p:spPr>
      </p:pic>
      <p:pic>
        <p:nvPicPr>
          <p:cNvPr id="154" name="Google Shape;154;p17" descr="image.png"/>
          <p:cNvPicPr preferRelativeResize="0"/>
          <p:nvPr/>
        </p:nvPicPr>
        <p:blipFill rotWithShape="1">
          <a:blip r:embed="rId8">
            <a:alphaModFix/>
          </a:blip>
          <a:srcRect/>
          <a:stretch/>
        </p:blipFill>
        <p:spPr>
          <a:xfrm>
            <a:off x="9645699" y="2533650"/>
            <a:ext cx="457200" cy="457200"/>
          </a:xfrm>
          <a:prstGeom prst="rect">
            <a:avLst/>
          </a:prstGeom>
          <a:noFill/>
          <a:ln>
            <a:noFill/>
          </a:ln>
        </p:spPr>
      </p:pic>
      <p:sp>
        <p:nvSpPr>
          <p:cNvPr id="155" name="Google Shape;155;p17"/>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Survey Overview &amp; Methodology</a:t>
            </a: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1000"/>
                                        <p:tgtEl>
                                          <p:spTgt spid="143"/>
                                        </p:tgtEl>
                                      </p:cBhvr>
                                    </p:animEffect>
                                  </p:childTnLst>
                                </p:cTn>
                              </p:par>
                              <p:par>
                                <p:cTn id="8" presetID="10" presetClass="entr" presetSubtype="0" fill="hold" nodeType="withEffect">
                                  <p:stCondLst>
                                    <p:cond delay="1000"/>
                                  </p:stCondLst>
                                  <p:childTnLst>
                                    <p:set>
                                      <p:cBhvr>
                                        <p:cTn id="9" dur="1" fill="hold">
                                          <p:stCondLst>
                                            <p:cond delay="0"/>
                                          </p:stCondLst>
                                        </p:cTn>
                                        <p:tgtEl>
                                          <p:spTgt spid="144"/>
                                        </p:tgtEl>
                                        <p:attrNameLst>
                                          <p:attrName>style.visibility</p:attrName>
                                        </p:attrNameLst>
                                      </p:cBhvr>
                                      <p:to>
                                        <p:strVal val="visible"/>
                                      </p:to>
                                    </p:set>
                                    <p:animEffect transition="in" filter="fade">
                                      <p:cBhvr>
                                        <p:cTn id="10" dur="1000"/>
                                        <p:tgtEl>
                                          <p:spTgt spid="144"/>
                                        </p:tgtEl>
                                      </p:cBhvr>
                                    </p:animEffect>
                                  </p:childTnLst>
                                </p:cTn>
                              </p:par>
                              <p:par>
                                <p:cTn id="11" presetID="10" presetClass="entr" presetSubtype="0" fill="hold" nodeType="withEffect">
                                  <p:stCondLst>
                                    <p:cond delay="2000"/>
                                  </p:stCondLst>
                                  <p:childTnLst>
                                    <p:set>
                                      <p:cBhvr>
                                        <p:cTn id="12" dur="1" fill="hold">
                                          <p:stCondLst>
                                            <p:cond delay="0"/>
                                          </p:stCondLst>
                                        </p:cTn>
                                        <p:tgtEl>
                                          <p:spTgt spid="145"/>
                                        </p:tgtEl>
                                        <p:attrNameLst>
                                          <p:attrName>style.visibility</p:attrName>
                                        </p:attrNameLst>
                                      </p:cBhvr>
                                      <p:to>
                                        <p:strVal val="visible"/>
                                      </p:to>
                                    </p:set>
                                    <p:animEffect transition="in" filter="fade">
                                      <p:cBhvr>
                                        <p:cTn id="13" dur="10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59"/>
        <p:cNvGrpSpPr/>
        <p:nvPr/>
      </p:nvGrpSpPr>
      <p:grpSpPr>
        <a:xfrm>
          <a:off x="0" y="0"/>
          <a:ext cx="0" cy="0"/>
          <a:chOff x="0" y="0"/>
          <a:chExt cx="0" cy="0"/>
        </a:xfrm>
      </p:grpSpPr>
      <p:pic>
        <p:nvPicPr>
          <p:cNvPr id="161" name="Google Shape;161;p18" descr="image.png"/>
          <p:cNvPicPr preferRelativeResize="0"/>
          <p:nvPr/>
        </p:nvPicPr>
        <p:blipFill rotWithShape="1">
          <a:blip r:embed="rId3">
            <a:alphaModFix/>
          </a:blip>
          <a:srcRect/>
          <a:stretch/>
        </p:blipFill>
        <p:spPr>
          <a:xfrm>
            <a:off x="571500" y="1619250"/>
            <a:ext cx="11049000" cy="4762500"/>
          </a:xfrm>
          <a:prstGeom prst="rect">
            <a:avLst/>
          </a:prstGeom>
          <a:noFill/>
          <a:ln>
            <a:noFill/>
          </a:ln>
        </p:spPr>
      </p:pic>
      <p:sp>
        <p:nvSpPr>
          <p:cNvPr id="162" name="Google Shape;162;p18"/>
          <p:cNvSpPr txBox="1"/>
          <p:nvPr/>
        </p:nvSpPr>
        <p:spPr>
          <a:xfrm>
            <a:off x="1123950" y="5429250"/>
            <a:ext cx="9944100" cy="692497"/>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1"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Academic problems are the single largest challenge (42%), followed by administrative issues (19%) and emotional stress (13%). These three account for 74% of all reported major issues.</a:t>
            </a:r>
            <a:endParaRPr dirty="0">
              <a:latin typeface="Times New Roman" panose="02020603050405020304" pitchFamily="18" charset="0"/>
              <a:cs typeface="Times New Roman" panose="02020603050405020304" pitchFamily="18" charset="0"/>
            </a:endParaRPr>
          </a:p>
        </p:txBody>
      </p:sp>
      <p:sp>
        <p:nvSpPr>
          <p:cNvPr id="163" name="Google Shape;163;p18"/>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Key Observation 1: Major Problems</a:t>
            </a:r>
            <a:endParaRPr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727F777C-070D-A1E9-3B8E-E25E005760A1}"/>
              </a:ext>
            </a:extLst>
          </p:cNvPr>
          <p:cNvSpPr txBox="1"/>
          <p:nvPr/>
        </p:nvSpPr>
        <p:spPr>
          <a:xfrm>
            <a:off x="4657726" y="2953405"/>
            <a:ext cx="1143000" cy="523220"/>
          </a:xfrm>
          <a:prstGeom prst="rect">
            <a:avLst/>
          </a:prstGeom>
          <a:noFill/>
        </p:spPr>
        <p:txBody>
          <a:bodyPr wrap="square" rtlCol="0">
            <a:spAutoFit/>
          </a:bodyPr>
          <a:lstStyle/>
          <a:p>
            <a:r>
              <a:rPr lang="en-US" dirty="0">
                <a:solidFill>
                  <a:schemeClr val="bg1"/>
                </a:solidFill>
              </a:rPr>
              <a:t>Academic Problems</a:t>
            </a:r>
          </a:p>
        </p:txBody>
      </p:sp>
      <p:sp>
        <p:nvSpPr>
          <p:cNvPr id="3" name="TextBox 2">
            <a:extLst>
              <a:ext uri="{FF2B5EF4-FFF2-40B4-BE49-F238E27FC236}">
                <a16:creationId xmlns:a16="http://schemas.microsoft.com/office/drawing/2014/main" id="{D5DC76B0-2877-88F8-1369-2CE52B6D2E46}"/>
              </a:ext>
            </a:extLst>
          </p:cNvPr>
          <p:cNvSpPr txBox="1"/>
          <p:nvPr/>
        </p:nvSpPr>
        <p:spPr>
          <a:xfrm>
            <a:off x="4210050" y="4505325"/>
            <a:ext cx="184731" cy="307777"/>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F253CEE2-C30A-1ECE-B02E-5F827F70B8FA}"/>
              </a:ext>
            </a:extLst>
          </p:cNvPr>
          <p:cNvSpPr txBox="1"/>
          <p:nvPr/>
        </p:nvSpPr>
        <p:spPr>
          <a:xfrm>
            <a:off x="3494803" y="4381500"/>
            <a:ext cx="1315321" cy="523220"/>
          </a:xfrm>
          <a:prstGeom prst="rect">
            <a:avLst/>
          </a:prstGeom>
          <a:noFill/>
        </p:spPr>
        <p:txBody>
          <a:bodyPr wrap="square" rtlCol="0">
            <a:spAutoFit/>
          </a:bodyPr>
          <a:lstStyle/>
          <a:p>
            <a:r>
              <a:rPr lang="en-US" dirty="0">
                <a:solidFill>
                  <a:schemeClr val="bg1"/>
                </a:solidFill>
              </a:rPr>
              <a:t>Administrative problems</a:t>
            </a:r>
          </a:p>
        </p:txBody>
      </p:sp>
      <p:sp>
        <p:nvSpPr>
          <p:cNvPr id="5" name="TextBox 4">
            <a:extLst>
              <a:ext uri="{FF2B5EF4-FFF2-40B4-BE49-F238E27FC236}">
                <a16:creationId xmlns:a16="http://schemas.microsoft.com/office/drawing/2014/main" id="{3EC64354-4CC9-5912-D973-00E6617D6000}"/>
              </a:ext>
            </a:extLst>
          </p:cNvPr>
          <p:cNvSpPr txBox="1"/>
          <p:nvPr/>
        </p:nvSpPr>
        <p:spPr>
          <a:xfrm>
            <a:off x="2581274" y="3867150"/>
            <a:ext cx="1019175" cy="307777"/>
          </a:xfrm>
          <a:prstGeom prst="rect">
            <a:avLst/>
          </a:prstGeom>
          <a:noFill/>
        </p:spPr>
        <p:txBody>
          <a:bodyPr wrap="square" rtlCol="0">
            <a:spAutoFit/>
          </a:bodyPr>
          <a:lstStyle/>
          <a:p>
            <a:r>
              <a:rPr lang="en-US" dirty="0">
                <a:solidFill>
                  <a:schemeClr val="bg1"/>
                </a:solidFill>
              </a:rPr>
              <a:t>Emotional</a:t>
            </a:r>
          </a:p>
        </p:txBody>
      </p:sp>
      <p:sp>
        <p:nvSpPr>
          <p:cNvPr id="7" name="TextBox 6">
            <a:extLst>
              <a:ext uri="{FF2B5EF4-FFF2-40B4-BE49-F238E27FC236}">
                <a16:creationId xmlns:a16="http://schemas.microsoft.com/office/drawing/2014/main" id="{75FA0271-46EE-57D7-ACEB-68192A4E842D}"/>
              </a:ext>
            </a:extLst>
          </p:cNvPr>
          <p:cNvSpPr txBox="1"/>
          <p:nvPr/>
        </p:nvSpPr>
        <p:spPr>
          <a:xfrm>
            <a:off x="2800262" y="2846487"/>
            <a:ext cx="1199367" cy="307777"/>
          </a:xfrm>
          <a:prstGeom prst="rect">
            <a:avLst/>
          </a:prstGeom>
          <a:noFill/>
        </p:spPr>
        <p:txBody>
          <a:bodyPr wrap="none" rtlCol="0">
            <a:spAutoFit/>
          </a:bodyPr>
          <a:lstStyle/>
          <a:p>
            <a:r>
              <a:rPr lang="en-US" dirty="0">
                <a:solidFill>
                  <a:schemeClr val="bg1"/>
                </a:solidFill>
              </a:rPr>
              <a:t>Other Issues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1"/>
                                        </p:tgtEl>
                                        <p:attrNameLst>
                                          <p:attrName>style.visibility</p:attrName>
                                        </p:attrNameLst>
                                      </p:cBhvr>
                                      <p:to>
                                        <p:strVal val="visible"/>
                                      </p:to>
                                    </p:set>
                                    <p:animEffect transition="in" filter="fade">
                                      <p:cBhvr>
                                        <p:cTn id="7" dur="1000"/>
                                        <p:tgtEl>
                                          <p:spTgt spid="16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2"/>
                                        </p:tgtEl>
                                        <p:attrNameLst>
                                          <p:attrName>style.visibility</p:attrName>
                                        </p:attrNameLst>
                                      </p:cBhvr>
                                      <p:to>
                                        <p:strVal val="visible"/>
                                      </p:to>
                                    </p:set>
                                    <p:animEffect transition="in" filter="fade">
                                      <p:cBhvr>
                                        <p:cTn id="10" dur="1000"/>
                                        <p:tgtEl>
                                          <p:spTgt spid="16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10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 grpId="0"/>
      <p:bldP spid="2" grpId="0"/>
      <p:bldP spid="4" grpId="0"/>
      <p:bldP spid="5"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67"/>
        <p:cNvGrpSpPr/>
        <p:nvPr/>
      </p:nvGrpSpPr>
      <p:grpSpPr>
        <a:xfrm>
          <a:off x="0" y="0"/>
          <a:ext cx="0" cy="0"/>
          <a:chOff x="0" y="0"/>
          <a:chExt cx="0" cy="0"/>
        </a:xfrm>
      </p:grpSpPr>
      <p:sp>
        <p:nvSpPr>
          <p:cNvPr id="170" name="Google Shape;170;p19"/>
          <p:cNvSpPr txBox="1"/>
          <p:nvPr/>
        </p:nvSpPr>
        <p:spPr>
          <a:xfrm>
            <a:off x="1123950" y="5429250"/>
            <a:ext cx="9944100" cy="692497"/>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1"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A significant 60% of freshers report high to extreme stress (Levels 4 &amp; 5). This indicates poor well-being and is likely a direct consequence of academic and administrative pressures.</a:t>
            </a:r>
            <a:endParaRPr dirty="0">
              <a:latin typeface="Times New Roman" panose="02020603050405020304" pitchFamily="18" charset="0"/>
              <a:cs typeface="Times New Roman" panose="02020603050405020304" pitchFamily="18" charset="0"/>
            </a:endParaRPr>
          </a:p>
        </p:txBody>
      </p:sp>
      <p:sp>
        <p:nvSpPr>
          <p:cNvPr id="171" name="Google Shape;171;p19"/>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Key Observation 2: Stress Levels</a:t>
            </a:r>
            <a:endParaRPr dirty="0">
              <a:latin typeface="Times New Roman" panose="02020603050405020304" pitchFamily="18" charset="0"/>
              <a:cs typeface="Times New Roman" panose="02020603050405020304" pitchFamily="18" charset="0"/>
            </a:endParaRPr>
          </a:p>
        </p:txBody>
      </p:sp>
      <p:pic>
        <p:nvPicPr>
          <p:cNvPr id="15" name="Image 0" descr="preencoded.png">
            <a:extLst>
              <a:ext uri="{FF2B5EF4-FFF2-40B4-BE49-F238E27FC236}">
                <a16:creationId xmlns:a16="http://schemas.microsoft.com/office/drawing/2014/main" id="{390439E6-AF34-6005-07AA-1763E7C0266A}"/>
              </a:ext>
            </a:extLst>
          </p:cNvPr>
          <p:cNvPicPr>
            <a:picLocks noChangeAspect="1"/>
          </p:cNvPicPr>
          <p:nvPr/>
        </p:nvPicPr>
        <p:blipFill>
          <a:blip r:embed="rId3"/>
          <a:stretch>
            <a:fillRect/>
          </a:stretch>
        </p:blipFill>
        <p:spPr>
          <a:xfrm>
            <a:off x="2326677" y="1143000"/>
            <a:ext cx="7538645" cy="422163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5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0"/>
                                        </p:tgtEl>
                                        <p:attrNameLst>
                                          <p:attrName>style.visibility</p:attrName>
                                        </p:attrNameLst>
                                      </p:cBhvr>
                                      <p:to>
                                        <p:strVal val="visible"/>
                                      </p:to>
                                    </p:set>
                                    <p:animEffect transition="in" filter="fade">
                                      <p:cBhvr>
                                        <p:cTn id="10" dur="10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75"/>
        <p:cNvGrpSpPr/>
        <p:nvPr/>
      </p:nvGrpSpPr>
      <p:grpSpPr>
        <a:xfrm>
          <a:off x="0" y="0"/>
          <a:ext cx="0" cy="0"/>
          <a:chOff x="0" y="0"/>
          <a:chExt cx="0" cy="0"/>
        </a:xfrm>
      </p:grpSpPr>
      <p:pic>
        <p:nvPicPr>
          <p:cNvPr id="176" name="Google Shape;176;p20" descr="image.png"/>
          <p:cNvPicPr preferRelativeResize="0"/>
          <p:nvPr/>
        </p:nvPicPr>
        <p:blipFill rotWithShape="1">
          <a:blip r:embed="rId3">
            <a:alphaModFix/>
          </a:blip>
          <a:srcRect/>
          <a:stretch/>
        </p:blipFill>
        <p:spPr>
          <a:xfrm>
            <a:off x="638175" y="114300"/>
            <a:ext cx="12192000" cy="6858000"/>
          </a:xfrm>
          <a:prstGeom prst="rect">
            <a:avLst/>
          </a:prstGeom>
          <a:noFill/>
          <a:ln>
            <a:noFill/>
          </a:ln>
        </p:spPr>
      </p:pic>
      <p:sp>
        <p:nvSpPr>
          <p:cNvPr id="178" name="Google Shape;178;p20"/>
          <p:cNvSpPr txBox="1"/>
          <p:nvPr/>
        </p:nvSpPr>
        <p:spPr>
          <a:xfrm>
            <a:off x="1123950" y="5835248"/>
            <a:ext cx="9944100" cy="646331"/>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b="0" i="1"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66% of the cohort scored 1020 or above in previous exams. This strong academic foundation suggests their struggles are not from lack of aptitude, but a gap in *academic transition*.</a:t>
            </a:r>
            <a:endParaRPr dirty="0">
              <a:latin typeface="Times New Roman" panose="02020603050405020304" pitchFamily="18" charset="0"/>
              <a:cs typeface="Times New Roman" panose="02020603050405020304" pitchFamily="18" charset="0"/>
            </a:endParaRPr>
          </a:p>
        </p:txBody>
      </p:sp>
      <p:sp>
        <p:nvSpPr>
          <p:cNvPr id="179" name="Google Shape;179;p20"/>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5088"/>
                </a:solidFill>
                <a:latin typeface="Times New Roman" panose="02020603050405020304" pitchFamily="18" charset="0"/>
                <a:ea typeface="Merriweather"/>
                <a:cs typeface="Times New Roman" panose="02020603050405020304" pitchFamily="18" charset="0"/>
                <a:sym typeface="Merriweather"/>
              </a:rPr>
              <a:t>Key Observation 3: Academic Context</a:t>
            </a:r>
            <a:endParaRPr>
              <a:latin typeface="Times New Roman" panose="02020603050405020304" pitchFamily="18" charset="0"/>
              <a:cs typeface="Times New Roman" panose="02020603050405020304" pitchFamily="18" charset="0"/>
            </a:endParaRPr>
          </a:p>
        </p:txBody>
      </p:sp>
      <p:pic>
        <p:nvPicPr>
          <p:cNvPr id="7" name="Image 0" descr="preencoded.png">
            <a:extLst>
              <a:ext uri="{FF2B5EF4-FFF2-40B4-BE49-F238E27FC236}">
                <a16:creationId xmlns:a16="http://schemas.microsoft.com/office/drawing/2014/main" id="{DEFA7F23-5E12-57C4-9B87-1EBAA08BC3F9}"/>
              </a:ext>
            </a:extLst>
          </p:cNvPr>
          <p:cNvPicPr>
            <a:picLocks noChangeAspect="1"/>
          </p:cNvPicPr>
          <p:nvPr/>
        </p:nvPicPr>
        <p:blipFill>
          <a:blip r:embed="rId4"/>
          <a:stretch>
            <a:fillRect/>
          </a:stretch>
        </p:blipFill>
        <p:spPr>
          <a:xfrm>
            <a:off x="1123950" y="1252149"/>
            <a:ext cx="7989367" cy="44739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75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8"/>
                                        </p:tgtEl>
                                        <p:attrNameLst>
                                          <p:attrName>style.visibility</p:attrName>
                                        </p:attrNameLst>
                                      </p:cBhvr>
                                      <p:to>
                                        <p:strVal val="visible"/>
                                      </p:to>
                                    </p:set>
                                    <p:animEffect transition="in" filter="fade">
                                      <p:cBhvr>
                                        <p:cTn id="10" dur="1000"/>
                                        <p:tgtEl>
                                          <p:spTgt spid="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183"/>
        <p:cNvGrpSpPr/>
        <p:nvPr/>
      </p:nvGrpSpPr>
      <p:grpSpPr>
        <a:xfrm>
          <a:off x="0" y="0"/>
          <a:ext cx="0" cy="0"/>
          <a:chOff x="0" y="0"/>
          <a:chExt cx="0" cy="0"/>
        </a:xfrm>
      </p:grpSpPr>
      <p:pic>
        <p:nvPicPr>
          <p:cNvPr id="185" name="Google Shape;185;p21" descr="image.png"/>
          <p:cNvPicPr preferRelativeResize="0"/>
          <p:nvPr/>
        </p:nvPicPr>
        <p:blipFill rotWithShape="1">
          <a:blip r:embed="rId3">
            <a:alphaModFix/>
          </a:blip>
          <a:srcRect/>
          <a:stretch/>
        </p:blipFill>
        <p:spPr>
          <a:xfrm>
            <a:off x="647700" y="881062"/>
            <a:ext cx="5286375" cy="2600325"/>
          </a:xfrm>
          <a:prstGeom prst="rect">
            <a:avLst/>
          </a:prstGeom>
          <a:noFill/>
          <a:ln>
            <a:noFill/>
          </a:ln>
        </p:spPr>
      </p:pic>
      <p:pic>
        <p:nvPicPr>
          <p:cNvPr id="186" name="Google Shape;186;p21" descr="image.png"/>
          <p:cNvPicPr preferRelativeResize="0"/>
          <p:nvPr/>
        </p:nvPicPr>
        <p:blipFill rotWithShape="1">
          <a:blip r:embed="rId4">
            <a:alphaModFix/>
          </a:blip>
          <a:srcRect/>
          <a:stretch/>
        </p:blipFill>
        <p:spPr>
          <a:xfrm>
            <a:off x="6581775" y="881062"/>
            <a:ext cx="5286375" cy="2600325"/>
          </a:xfrm>
          <a:prstGeom prst="rect">
            <a:avLst/>
          </a:prstGeom>
          <a:noFill/>
          <a:ln>
            <a:noFill/>
          </a:ln>
        </p:spPr>
      </p:pic>
      <p:sp>
        <p:nvSpPr>
          <p:cNvPr id="187" name="Google Shape;187;p21"/>
          <p:cNvSpPr txBox="1"/>
          <p:nvPr/>
        </p:nvSpPr>
        <p:spPr>
          <a:xfrm>
            <a:off x="962025" y="1058682"/>
            <a:ext cx="473059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rgbClr val="005088"/>
                </a:solidFill>
                <a:latin typeface="Times New Roman" panose="02020603050405020304" pitchFamily="18" charset="0"/>
                <a:cs typeface="Times New Roman" panose="02020603050405020304" pitchFamily="18" charset="0"/>
                <a:sym typeface="Merriweather"/>
              </a:rPr>
              <a:t>Academic Overload:</a:t>
            </a:r>
            <a:endParaRPr dirty="0">
              <a:latin typeface="Times New Roman" panose="02020603050405020304" pitchFamily="18" charset="0"/>
              <a:cs typeface="Times New Roman" panose="02020603050405020304" pitchFamily="18" charset="0"/>
            </a:endParaRPr>
          </a:p>
        </p:txBody>
      </p:sp>
      <p:sp>
        <p:nvSpPr>
          <p:cNvPr id="188" name="Google Shape;188;p21"/>
          <p:cNvSpPr txBox="1"/>
          <p:nvPr/>
        </p:nvSpPr>
        <p:spPr>
          <a:xfrm>
            <a:off x="962025" y="1534893"/>
            <a:ext cx="4505325" cy="969496"/>
          </a:xfrm>
          <a:prstGeom prst="rect">
            <a:avLst/>
          </a:prstGeom>
          <a:noFill/>
          <a:ln>
            <a:noFill/>
          </a:ln>
        </p:spPr>
        <p:txBody>
          <a:bodyPr spcFirstLastPara="1" wrap="square" lIns="0" tIns="0" rIns="0" bIns="0" anchor="t" anchorCtr="0">
            <a:spAutoFit/>
          </a:bodyPr>
          <a:lstStyle/>
          <a:p>
            <a:pPr lvl="0" algn="just">
              <a:lnSpc>
                <a:spcPct val="150000"/>
              </a:lnSpc>
            </a:pPr>
            <a:r>
              <a:rPr lang="en-US" dirty="0">
                <a:latin typeface="Times New Roman" panose="02020603050405020304" pitchFamily="18" charset="0"/>
                <a:cs typeface="Times New Roman" panose="02020603050405020304" pitchFamily="18" charset="0"/>
              </a:rPr>
              <a:t>The volume and pace of coursework, coupled with a lack of clarity regarding assignment submission and assessment methods, constitute the single largest source of reported stress. </a:t>
            </a:r>
            <a:endParaRPr dirty="0">
              <a:latin typeface="Times New Roman" panose="02020603050405020304" pitchFamily="18" charset="0"/>
              <a:cs typeface="Times New Roman" panose="02020603050405020304" pitchFamily="18" charset="0"/>
            </a:endParaRPr>
          </a:p>
        </p:txBody>
      </p:sp>
      <p:sp>
        <p:nvSpPr>
          <p:cNvPr id="189" name="Google Shape;189;p21"/>
          <p:cNvSpPr txBox="1"/>
          <p:nvPr/>
        </p:nvSpPr>
        <p:spPr>
          <a:xfrm>
            <a:off x="6859666" y="1058683"/>
            <a:ext cx="473059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rgbClr val="005088"/>
                </a:solidFill>
                <a:latin typeface="Times New Roman" panose="02020603050405020304" pitchFamily="18" charset="0"/>
                <a:cs typeface="Times New Roman" panose="02020603050405020304" pitchFamily="18" charset="0"/>
                <a:sym typeface="Merriweather"/>
              </a:rPr>
              <a:t>Administrative Friction:</a:t>
            </a:r>
            <a:endParaRPr dirty="0">
              <a:latin typeface="Times New Roman" panose="02020603050405020304" pitchFamily="18" charset="0"/>
              <a:cs typeface="Times New Roman" panose="02020603050405020304" pitchFamily="18" charset="0"/>
            </a:endParaRPr>
          </a:p>
        </p:txBody>
      </p:sp>
      <p:sp>
        <p:nvSpPr>
          <p:cNvPr id="190" name="Google Shape;190;p21"/>
          <p:cNvSpPr txBox="1"/>
          <p:nvPr/>
        </p:nvSpPr>
        <p:spPr>
          <a:xfrm>
            <a:off x="6859666" y="1539203"/>
            <a:ext cx="4505325" cy="1615827"/>
          </a:xfrm>
          <a:prstGeom prst="rect">
            <a:avLst/>
          </a:prstGeom>
          <a:noFill/>
          <a:ln>
            <a:noFill/>
          </a:ln>
        </p:spPr>
        <p:txBody>
          <a:bodyPr spcFirstLastPara="1" wrap="square" lIns="0" tIns="0" rIns="0" bIns="0" anchor="t" anchorCtr="0">
            <a:spAutoFit/>
          </a:bodyPr>
          <a:lstStyle/>
          <a:p>
            <a:pPr algn="just">
              <a:lnSpc>
                <a:spcPct val="150000"/>
              </a:lnSpc>
            </a:pPr>
            <a:r>
              <a:rPr lang="en-US" dirty="0">
                <a:latin typeface="Times New Roman" panose="02020603050405020304" pitchFamily="18" charset="0"/>
                <a:cs typeface="Times New Roman" panose="02020603050405020304" pitchFamily="18" charset="0"/>
              </a:rPr>
              <a:t>Frequent complaints regarding "University Management" and "Facilities" highlight operational inefficiencies that distract from learning. A lack of transparent communication regarding fees and schedules creates unnecessary anxiety.</a:t>
            </a:r>
          </a:p>
          <a:p>
            <a:pPr marL="0" marR="0" lvl="0" indent="0" algn="just" rtl="0">
              <a:lnSpc>
                <a:spcPct val="150000"/>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191" name="Google Shape;191;p21"/>
          <p:cNvSpPr txBox="1"/>
          <p:nvPr/>
        </p:nvSpPr>
        <p:spPr>
          <a:xfrm>
            <a:off x="469392" y="100786"/>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Findings and Discussion</a:t>
            </a:r>
            <a:endParaRPr dirty="0">
              <a:latin typeface="Times New Roman" panose="02020603050405020304" pitchFamily="18" charset="0"/>
              <a:cs typeface="Times New Roman" panose="02020603050405020304" pitchFamily="18" charset="0"/>
            </a:endParaRPr>
          </a:p>
        </p:txBody>
      </p:sp>
      <p:pic>
        <p:nvPicPr>
          <p:cNvPr id="2" name="Google Shape;185;p21" descr="image.png">
            <a:extLst>
              <a:ext uri="{FF2B5EF4-FFF2-40B4-BE49-F238E27FC236}">
                <a16:creationId xmlns:a16="http://schemas.microsoft.com/office/drawing/2014/main" id="{CAECBBF3-FEFC-BBBD-7F9C-740D87B40FE8}"/>
              </a:ext>
            </a:extLst>
          </p:cNvPr>
          <p:cNvPicPr preferRelativeResize="0"/>
          <p:nvPr/>
        </p:nvPicPr>
        <p:blipFill rotWithShape="1">
          <a:blip r:embed="rId3">
            <a:alphaModFix/>
          </a:blip>
          <a:srcRect/>
          <a:stretch/>
        </p:blipFill>
        <p:spPr>
          <a:xfrm>
            <a:off x="3452812" y="3826787"/>
            <a:ext cx="5286375" cy="2600325"/>
          </a:xfrm>
          <a:prstGeom prst="rect">
            <a:avLst/>
          </a:prstGeom>
          <a:noFill/>
          <a:ln>
            <a:noFill/>
          </a:ln>
        </p:spPr>
      </p:pic>
      <p:sp>
        <p:nvSpPr>
          <p:cNvPr id="5" name="Google Shape;187;p21">
            <a:extLst>
              <a:ext uri="{FF2B5EF4-FFF2-40B4-BE49-F238E27FC236}">
                <a16:creationId xmlns:a16="http://schemas.microsoft.com/office/drawing/2014/main" id="{ADDB7847-3322-5FF2-6C1E-66798BDF408D}"/>
              </a:ext>
            </a:extLst>
          </p:cNvPr>
          <p:cNvSpPr txBox="1"/>
          <p:nvPr/>
        </p:nvSpPr>
        <p:spPr>
          <a:xfrm>
            <a:off x="3659502" y="3983293"/>
            <a:ext cx="4730591"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dirty="0">
                <a:solidFill>
                  <a:srgbClr val="005088"/>
                </a:solidFill>
                <a:latin typeface="Times New Roman" panose="02020603050405020304" pitchFamily="18" charset="0"/>
                <a:cs typeface="Times New Roman" panose="02020603050405020304" pitchFamily="18" charset="0"/>
                <a:sym typeface="Merriweather"/>
              </a:rPr>
              <a:t>Well-Being Crisis:</a:t>
            </a:r>
            <a:endParaRPr dirty="0">
              <a:latin typeface="Times New Roman" panose="02020603050405020304" pitchFamily="18" charset="0"/>
              <a:cs typeface="Times New Roman" panose="02020603050405020304" pitchFamily="18" charset="0"/>
            </a:endParaRPr>
          </a:p>
        </p:txBody>
      </p:sp>
      <p:sp>
        <p:nvSpPr>
          <p:cNvPr id="9" name="Google Shape;188;p21">
            <a:extLst>
              <a:ext uri="{FF2B5EF4-FFF2-40B4-BE49-F238E27FC236}">
                <a16:creationId xmlns:a16="http://schemas.microsoft.com/office/drawing/2014/main" id="{AA6D6A77-83BF-467B-D843-BDD4ACA86F1E}"/>
              </a:ext>
            </a:extLst>
          </p:cNvPr>
          <p:cNvSpPr txBox="1"/>
          <p:nvPr/>
        </p:nvSpPr>
        <p:spPr>
          <a:xfrm>
            <a:off x="3659502" y="4414182"/>
            <a:ext cx="4505325" cy="1615827"/>
          </a:xfrm>
          <a:prstGeom prst="rect">
            <a:avLst/>
          </a:prstGeom>
          <a:noFill/>
          <a:ln>
            <a:noFill/>
          </a:ln>
        </p:spPr>
        <p:txBody>
          <a:bodyPr spcFirstLastPara="1" wrap="square" lIns="0" tIns="0" rIns="0" bIns="0" anchor="t" anchorCtr="0">
            <a:spAutoFit/>
          </a:bodyPr>
          <a:lstStyle/>
          <a:p>
            <a:pPr lvl="0" algn="just">
              <a:lnSpc>
                <a:spcPct val="150000"/>
              </a:lnSpc>
            </a:pPr>
            <a:r>
              <a:rPr lang="en-US" dirty="0">
                <a:latin typeface="Times New Roman" panose="02020603050405020304" pitchFamily="18" charset="0"/>
                <a:cs typeface="Times New Roman" panose="02020603050405020304" pitchFamily="18" charset="0"/>
              </a:rPr>
              <a:t>A significant percentage of freshers linked their problems to Psychological or emotional stress and Health and Lifestyle issues. This confirms the critical need for robust, accessible mental health and lifestyle guidance often neglected in the transition phase.</a:t>
            </a: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75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fade">
                                      <p:cBhvr>
                                        <p:cTn id="7" dur="1000"/>
                                        <p:tgtEl>
                                          <p:spTgt spid="18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8"/>
                                        </p:tgtEl>
                                        <p:attrNameLst>
                                          <p:attrName>style.visibility</p:attrName>
                                        </p:attrNameLst>
                                      </p:cBhvr>
                                      <p:to>
                                        <p:strVal val="visible"/>
                                      </p:to>
                                    </p:set>
                                    <p:animEffect transition="in" filter="fade">
                                      <p:cBhvr>
                                        <p:cTn id="10" dur="1000"/>
                                        <p:tgtEl>
                                          <p:spTgt spid="18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7"/>
                                        </p:tgtEl>
                                        <p:attrNameLst>
                                          <p:attrName>style.visibility</p:attrName>
                                        </p:attrNameLst>
                                      </p:cBhvr>
                                      <p:to>
                                        <p:strVal val="visible"/>
                                      </p:to>
                                    </p:set>
                                    <p:animEffect transition="in" filter="fade">
                                      <p:cBhvr>
                                        <p:cTn id="13" dur="1000"/>
                                        <p:tgtEl>
                                          <p:spTgt spid="187"/>
                                        </p:tgtEl>
                                      </p:cBhvr>
                                    </p:animEffect>
                                  </p:childTnLst>
                                </p:cTn>
                              </p:par>
                              <p:par>
                                <p:cTn id="14" presetID="10" presetClass="entr" presetSubtype="0" fill="hold" nodeType="withEffect">
                                  <p:stCondLst>
                                    <p:cond delay="1000"/>
                                  </p:stCondLst>
                                  <p:childTnLst>
                                    <p:set>
                                      <p:cBhvr>
                                        <p:cTn id="15" dur="1" fill="hold">
                                          <p:stCondLst>
                                            <p:cond delay="0"/>
                                          </p:stCondLst>
                                        </p:cTn>
                                        <p:tgtEl>
                                          <p:spTgt spid="186"/>
                                        </p:tgtEl>
                                        <p:attrNameLst>
                                          <p:attrName>style.visibility</p:attrName>
                                        </p:attrNameLst>
                                      </p:cBhvr>
                                      <p:to>
                                        <p:strVal val="visible"/>
                                      </p:to>
                                    </p:set>
                                    <p:animEffect transition="in" filter="fade">
                                      <p:cBhvr>
                                        <p:cTn id="16" dur="1000"/>
                                        <p:tgtEl>
                                          <p:spTgt spid="186"/>
                                        </p:tgtEl>
                                      </p:cBhvr>
                                    </p:animEffect>
                                  </p:childTnLst>
                                </p:cTn>
                              </p:par>
                              <p:par>
                                <p:cTn id="17" presetID="10" presetClass="entr" presetSubtype="0" fill="hold" grpId="0" nodeType="withEffect">
                                  <p:stCondLst>
                                    <p:cond delay="1000"/>
                                  </p:stCondLst>
                                  <p:childTnLst>
                                    <p:set>
                                      <p:cBhvr>
                                        <p:cTn id="18" dur="1" fill="hold">
                                          <p:stCondLst>
                                            <p:cond delay="0"/>
                                          </p:stCondLst>
                                        </p:cTn>
                                        <p:tgtEl>
                                          <p:spTgt spid="189"/>
                                        </p:tgtEl>
                                        <p:attrNameLst>
                                          <p:attrName>style.visibility</p:attrName>
                                        </p:attrNameLst>
                                      </p:cBhvr>
                                      <p:to>
                                        <p:strVal val="visible"/>
                                      </p:to>
                                    </p:set>
                                    <p:animEffect transition="in" filter="fade">
                                      <p:cBhvr>
                                        <p:cTn id="19" dur="1000"/>
                                        <p:tgtEl>
                                          <p:spTgt spid="189"/>
                                        </p:tgtEl>
                                      </p:cBhvr>
                                    </p:animEffect>
                                  </p:childTnLst>
                                </p:cTn>
                              </p:par>
                              <p:par>
                                <p:cTn id="20" presetID="10" presetClass="entr" presetSubtype="0" fill="hold" grpId="0" nodeType="withEffect">
                                  <p:stCondLst>
                                    <p:cond delay="1000"/>
                                  </p:stCondLst>
                                  <p:childTnLst>
                                    <p:set>
                                      <p:cBhvr>
                                        <p:cTn id="21" dur="1" fill="hold">
                                          <p:stCondLst>
                                            <p:cond delay="0"/>
                                          </p:stCondLst>
                                        </p:cTn>
                                        <p:tgtEl>
                                          <p:spTgt spid="190"/>
                                        </p:tgtEl>
                                        <p:attrNameLst>
                                          <p:attrName>style.visibility</p:attrName>
                                        </p:attrNameLst>
                                      </p:cBhvr>
                                      <p:to>
                                        <p:strVal val="visible"/>
                                      </p:to>
                                    </p:set>
                                    <p:animEffect transition="in" filter="fade">
                                      <p:cBhvr>
                                        <p:cTn id="22" dur="1000"/>
                                        <p:tgtEl>
                                          <p:spTgt spid="190"/>
                                        </p:tgtEl>
                                      </p:cBhvr>
                                    </p:animEffect>
                                  </p:childTnLst>
                                </p:cTn>
                              </p:par>
                              <p:par>
                                <p:cTn id="23" presetID="10" presetClass="entr" presetSubtype="0" fill="hold" nodeType="withEffect">
                                  <p:stCondLst>
                                    <p:cond delay="200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1000"/>
                                        <p:tgtEl>
                                          <p:spTgt spid="2"/>
                                        </p:tgtEl>
                                      </p:cBhvr>
                                    </p:animEffect>
                                  </p:childTnLst>
                                </p:cTn>
                              </p:par>
                              <p:par>
                                <p:cTn id="26" presetID="10" presetClass="entr" presetSubtype="0" fill="hold" grpId="0" nodeType="withEffect">
                                  <p:stCondLst>
                                    <p:cond delay="200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childTnLst>
                                </p:cTn>
                              </p:par>
                              <p:par>
                                <p:cTn id="29" presetID="10" presetClass="entr" presetSubtype="0" fill="hold" grpId="0" nodeType="withEffect">
                                  <p:stCondLst>
                                    <p:cond delay="20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 grpId="0"/>
      <p:bldP spid="188" grpId="0"/>
      <p:bldP spid="189" grpId="0"/>
      <p:bldP spid="190" grpId="0"/>
      <p:bldP spid="5"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04"/>
        <p:cNvGrpSpPr/>
        <p:nvPr/>
      </p:nvGrpSpPr>
      <p:grpSpPr>
        <a:xfrm>
          <a:off x="0" y="0"/>
          <a:ext cx="0" cy="0"/>
          <a:chOff x="0" y="0"/>
          <a:chExt cx="0" cy="0"/>
        </a:xfrm>
      </p:grpSpPr>
      <p:sp>
        <p:nvSpPr>
          <p:cNvPr id="206" name="Google Shape;206;p23"/>
          <p:cNvSpPr txBox="1"/>
          <p:nvPr/>
        </p:nvSpPr>
        <p:spPr>
          <a:xfrm>
            <a:off x="1285975" y="1298256"/>
            <a:ext cx="8191500" cy="492443"/>
          </a:xfrm>
          <a:prstGeom prst="rect">
            <a:avLst/>
          </a:prstGeom>
          <a:noFill/>
          <a:ln>
            <a:noFill/>
          </a:ln>
        </p:spPr>
        <p:txBody>
          <a:bodyPr spcFirstLastPara="1" wrap="square" lIns="0" tIns="0" rIns="0" bIns="0" anchor="t" anchorCtr="0">
            <a:spAutoFit/>
          </a:bodyPr>
          <a:lstStyle/>
          <a:p>
            <a:pPr lvl="0"/>
            <a:r>
              <a:rPr lang="en-US" sz="1600" dirty="0">
                <a:latin typeface="Times New Roman" panose="02020603050405020304" pitchFamily="18" charset="0"/>
                <a:cs typeface="Times New Roman" panose="02020603050405020304" pitchFamily="18" charset="0"/>
              </a:rPr>
              <a:t>Reduce Course Load and avoid complex subjects not relevant to the student's career (e.g., MWM for Computer Engineering, CS, AI, CYS students).</a:t>
            </a:r>
          </a:p>
        </p:txBody>
      </p:sp>
      <p:sp>
        <p:nvSpPr>
          <p:cNvPr id="207" name="Google Shape;207;p23"/>
          <p:cNvSpPr txBox="1"/>
          <p:nvPr/>
        </p:nvSpPr>
        <p:spPr>
          <a:xfrm>
            <a:off x="1285975" y="1901142"/>
            <a:ext cx="8191500" cy="36933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00" i="0" u="none" strike="noStrike" cap="none" dirty="0">
                <a:solidFill>
                  <a:srgbClr val="121212"/>
                </a:solidFill>
                <a:latin typeface="Times New Roman" panose="02020603050405020304" pitchFamily="18" charset="0"/>
                <a:ea typeface="DM Sans"/>
                <a:cs typeface="Times New Roman" panose="02020603050405020304" pitchFamily="18" charset="0"/>
                <a:sym typeface="DM Sans"/>
              </a:rPr>
              <a:t>Establish accessible counseling services and stress management workshops for mental well-being.</a:t>
            </a:r>
            <a:endParaRPr dirty="0">
              <a:latin typeface="Times New Roman" panose="02020603050405020304" pitchFamily="18" charset="0"/>
              <a:cs typeface="Times New Roman" panose="02020603050405020304" pitchFamily="18" charset="0"/>
            </a:endParaRPr>
          </a:p>
        </p:txBody>
      </p:sp>
      <p:sp>
        <p:nvSpPr>
          <p:cNvPr id="208" name="Google Shape;208;p23"/>
          <p:cNvSpPr txBox="1"/>
          <p:nvPr/>
        </p:nvSpPr>
        <p:spPr>
          <a:xfrm>
            <a:off x="1285975" y="2555064"/>
            <a:ext cx="8445166" cy="246221"/>
          </a:xfrm>
          <a:prstGeom prst="rect">
            <a:avLst/>
          </a:prstGeom>
          <a:noFill/>
          <a:ln>
            <a:noFill/>
          </a:ln>
        </p:spPr>
        <p:txBody>
          <a:bodyPr spcFirstLastPara="1" wrap="square" lIns="0" tIns="0" rIns="0" bIns="0" anchor="t" anchorCtr="0">
            <a:spAutoFit/>
          </a:bodyPr>
          <a:lstStyle/>
          <a:p>
            <a:pPr lvl="0"/>
            <a:r>
              <a:rPr lang="en-US" sz="1600" dirty="0">
                <a:latin typeface="Times New Roman" panose="02020603050405020304" pitchFamily="18" charset="0"/>
                <a:cs typeface="Times New Roman" panose="02020603050405020304" pitchFamily="18" charset="0"/>
              </a:rPr>
              <a:t>Provide proper academic guidance and time management training to reduce study pressure.</a:t>
            </a:r>
          </a:p>
        </p:txBody>
      </p:sp>
      <p:sp>
        <p:nvSpPr>
          <p:cNvPr id="209" name="Google Shape;209;p23"/>
          <p:cNvSpPr txBox="1"/>
          <p:nvPr/>
        </p:nvSpPr>
        <p:spPr>
          <a:xfrm>
            <a:off x="1285975" y="2953095"/>
            <a:ext cx="8191500" cy="738664"/>
          </a:xfrm>
          <a:prstGeom prst="rect">
            <a:avLst/>
          </a:prstGeom>
          <a:noFill/>
          <a:ln>
            <a:noFill/>
          </a:ln>
        </p:spPr>
        <p:txBody>
          <a:bodyPr spcFirstLastPara="1" wrap="square" lIns="0" tIns="0" rIns="0" bIns="0" anchor="t" anchorCtr="0">
            <a:spAutoFit/>
          </a:bodyPr>
          <a:lstStyle/>
          <a:p>
            <a:pPr lvl="0">
              <a:lnSpc>
                <a:spcPct val="150000"/>
              </a:lnSpc>
            </a:pPr>
            <a:r>
              <a:rPr lang="en-US" sz="1600" dirty="0">
                <a:latin typeface="Times New Roman" panose="02020603050405020304" pitchFamily="18" charset="0"/>
                <a:cs typeface="Times New Roman" panose="02020603050405020304" pitchFamily="18" charset="0"/>
              </a:rPr>
              <a:t>The University management and faculty must show some kind of leniency towards freshers as they struggle with the new environment</a:t>
            </a:r>
            <a:endParaRPr sz="1600" dirty="0">
              <a:latin typeface="Times New Roman" panose="02020603050405020304" pitchFamily="18" charset="0"/>
              <a:cs typeface="Times New Roman" panose="02020603050405020304" pitchFamily="18" charset="0"/>
            </a:endParaRPr>
          </a:p>
        </p:txBody>
      </p:sp>
      <p:sp>
        <p:nvSpPr>
          <p:cNvPr id="210" name="Google Shape;210;p23"/>
          <p:cNvSpPr txBox="1"/>
          <p:nvPr/>
        </p:nvSpPr>
        <p:spPr>
          <a:xfrm>
            <a:off x="1285975" y="3843569"/>
            <a:ext cx="8191500" cy="246221"/>
          </a:xfrm>
          <a:prstGeom prst="rect">
            <a:avLst/>
          </a:prstGeom>
          <a:noFill/>
          <a:ln>
            <a:noFill/>
          </a:ln>
        </p:spPr>
        <p:txBody>
          <a:bodyPr spcFirstLastPara="1" wrap="square" lIns="0" tIns="0" rIns="0" bIns="0" anchor="t" anchorCtr="0">
            <a:spAutoFit/>
          </a:bodyPr>
          <a:lstStyle/>
          <a:p>
            <a:pPr lvl="0"/>
            <a:r>
              <a:rPr lang="en-US" sz="1600" dirty="0">
                <a:latin typeface="Times New Roman" panose="02020603050405020304" pitchFamily="18" charset="0"/>
                <a:cs typeface="Times New Roman" panose="02020603050405020304" pitchFamily="18" charset="0"/>
              </a:rPr>
              <a:t>Communication between students and faculty should be improved</a:t>
            </a:r>
            <a:r>
              <a:rPr lang="en-US" sz="1600" b="1" u="sng"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pic>
        <p:nvPicPr>
          <p:cNvPr id="211" name="Google Shape;211;p23" descr="image.png"/>
          <p:cNvPicPr preferRelativeResize="0"/>
          <p:nvPr/>
        </p:nvPicPr>
        <p:blipFill rotWithShape="1">
          <a:blip r:embed="rId3">
            <a:alphaModFix/>
          </a:blip>
          <a:srcRect/>
          <a:stretch/>
        </p:blipFill>
        <p:spPr>
          <a:xfrm>
            <a:off x="863968" y="1358682"/>
            <a:ext cx="257175" cy="228600"/>
          </a:xfrm>
          <a:prstGeom prst="rect">
            <a:avLst/>
          </a:prstGeom>
          <a:noFill/>
          <a:ln>
            <a:noFill/>
          </a:ln>
        </p:spPr>
      </p:pic>
      <p:pic>
        <p:nvPicPr>
          <p:cNvPr id="212" name="Google Shape;212;p23" descr="image.png"/>
          <p:cNvPicPr preferRelativeResize="0"/>
          <p:nvPr/>
        </p:nvPicPr>
        <p:blipFill rotWithShape="1">
          <a:blip r:embed="rId4">
            <a:alphaModFix/>
          </a:blip>
          <a:srcRect/>
          <a:stretch/>
        </p:blipFill>
        <p:spPr>
          <a:xfrm>
            <a:off x="863968" y="1976437"/>
            <a:ext cx="228600" cy="228600"/>
          </a:xfrm>
          <a:prstGeom prst="rect">
            <a:avLst/>
          </a:prstGeom>
          <a:noFill/>
          <a:ln>
            <a:noFill/>
          </a:ln>
        </p:spPr>
      </p:pic>
      <p:pic>
        <p:nvPicPr>
          <p:cNvPr id="213" name="Google Shape;213;p23" descr="image.png"/>
          <p:cNvPicPr preferRelativeResize="0"/>
          <p:nvPr/>
        </p:nvPicPr>
        <p:blipFill rotWithShape="1">
          <a:blip r:embed="rId5">
            <a:alphaModFix/>
          </a:blip>
          <a:srcRect/>
          <a:stretch/>
        </p:blipFill>
        <p:spPr>
          <a:xfrm>
            <a:off x="863968" y="2557232"/>
            <a:ext cx="285750" cy="228600"/>
          </a:xfrm>
          <a:prstGeom prst="rect">
            <a:avLst/>
          </a:prstGeom>
          <a:noFill/>
          <a:ln>
            <a:noFill/>
          </a:ln>
        </p:spPr>
      </p:pic>
      <p:pic>
        <p:nvPicPr>
          <p:cNvPr id="214" name="Google Shape;214;p23" descr="image.png"/>
          <p:cNvPicPr preferRelativeResize="0"/>
          <p:nvPr/>
        </p:nvPicPr>
        <p:blipFill rotWithShape="1">
          <a:blip r:embed="rId6">
            <a:alphaModFix/>
          </a:blip>
          <a:srcRect/>
          <a:stretch/>
        </p:blipFill>
        <p:spPr>
          <a:xfrm>
            <a:off x="863967" y="3137186"/>
            <a:ext cx="257175" cy="228600"/>
          </a:xfrm>
          <a:prstGeom prst="rect">
            <a:avLst/>
          </a:prstGeom>
          <a:noFill/>
          <a:ln>
            <a:noFill/>
          </a:ln>
        </p:spPr>
      </p:pic>
      <p:pic>
        <p:nvPicPr>
          <p:cNvPr id="215" name="Google Shape;215;p23" descr="image.png"/>
          <p:cNvPicPr preferRelativeResize="0"/>
          <p:nvPr/>
        </p:nvPicPr>
        <p:blipFill rotWithShape="1">
          <a:blip r:embed="rId7">
            <a:alphaModFix/>
          </a:blip>
          <a:srcRect/>
          <a:stretch/>
        </p:blipFill>
        <p:spPr>
          <a:xfrm>
            <a:off x="870114" y="3843569"/>
            <a:ext cx="285750" cy="228600"/>
          </a:xfrm>
          <a:prstGeom prst="rect">
            <a:avLst/>
          </a:prstGeom>
          <a:noFill/>
          <a:ln>
            <a:noFill/>
          </a:ln>
        </p:spPr>
      </p:pic>
      <p:sp>
        <p:nvSpPr>
          <p:cNvPr id="216" name="Google Shape;216;p23"/>
          <p:cNvSpPr txBox="1"/>
          <p:nvPr/>
        </p:nvSpPr>
        <p:spPr>
          <a:xfrm>
            <a:off x="571500" y="57150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5088"/>
                </a:solidFill>
                <a:latin typeface="Times New Roman" panose="02020603050405020304" pitchFamily="18" charset="0"/>
                <a:ea typeface="Merriweather"/>
                <a:cs typeface="Times New Roman" panose="02020603050405020304" pitchFamily="18" charset="0"/>
                <a:sym typeface="Merriweather"/>
              </a:rPr>
              <a:t>Suggestions</a:t>
            </a:r>
            <a:endParaRPr>
              <a:latin typeface="Times New Roman" panose="02020603050405020304" pitchFamily="18" charset="0"/>
              <a:cs typeface="Times New Roman" panose="02020603050405020304" pitchFamily="18" charset="0"/>
            </a:endParaRPr>
          </a:p>
        </p:txBody>
      </p:sp>
      <p:pic>
        <p:nvPicPr>
          <p:cNvPr id="2" name="Google Shape;211;p23" descr="image.png">
            <a:extLst>
              <a:ext uri="{FF2B5EF4-FFF2-40B4-BE49-F238E27FC236}">
                <a16:creationId xmlns:a16="http://schemas.microsoft.com/office/drawing/2014/main" id="{482C8E78-2D01-82C4-49E9-831FDA3E0C47}"/>
              </a:ext>
            </a:extLst>
          </p:cNvPr>
          <p:cNvPicPr preferRelativeResize="0"/>
          <p:nvPr/>
        </p:nvPicPr>
        <p:blipFill rotWithShape="1">
          <a:blip r:embed="rId3">
            <a:alphaModFix/>
          </a:blip>
          <a:srcRect/>
          <a:stretch/>
        </p:blipFill>
        <p:spPr>
          <a:xfrm>
            <a:off x="892543" y="4423523"/>
            <a:ext cx="257175" cy="228600"/>
          </a:xfrm>
          <a:prstGeom prst="rect">
            <a:avLst/>
          </a:prstGeom>
          <a:noFill/>
          <a:ln>
            <a:noFill/>
          </a:ln>
        </p:spPr>
      </p:pic>
      <p:sp>
        <p:nvSpPr>
          <p:cNvPr id="3" name="Google Shape;210;p23">
            <a:extLst>
              <a:ext uri="{FF2B5EF4-FFF2-40B4-BE49-F238E27FC236}">
                <a16:creationId xmlns:a16="http://schemas.microsoft.com/office/drawing/2014/main" id="{36F3E868-4065-E1DC-E473-BD875855B799}"/>
              </a:ext>
            </a:extLst>
          </p:cNvPr>
          <p:cNvSpPr txBox="1"/>
          <p:nvPr/>
        </p:nvSpPr>
        <p:spPr>
          <a:xfrm>
            <a:off x="1285975" y="4306476"/>
            <a:ext cx="8191500" cy="492443"/>
          </a:xfrm>
          <a:prstGeom prst="rect">
            <a:avLst/>
          </a:prstGeom>
          <a:noFill/>
          <a:ln>
            <a:noFill/>
          </a:ln>
        </p:spPr>
        <p:txBody>
          <a:bodyPr spcFirstLastPara="1" wrap="square" lIns="0" tIns="0" rIns="0" bIns="0" anchor="t" anchorCtr="0">
            <a:spAutoFit/>
          </a:bodyPr>
          <a:lstStyle/>
          <a:p>
            <a:pPr lvl="0"/>
            <a:r>
              <a:rPr lang="en-US" sz="1600" dirty="0">
                <a:latin typeface="Times New Roman" panose="02020603050405020304" pitchFamily="18" charset="0"/>
                <a:cs typeface="Times New Roman" panose="02020603050405020304" pitchFamily="18" charset="0"/>
              </a:rPr>
              <a:t>Focus on physical activities for fitness and events for entertainment and prepare students about their career.</a:t>
            </a:r>
          </a:p>
        </p:txBody>
      </p:sp>
      <p:pic>
        <p:nvPicPr>
          <p:cNvPr id="4" name="Google Shape;213;p23" descr="image.png">
            <a:extLst>
              <a:ext uri="{FF2B5EF4-FFF2-40B4-BE49-F238E27FC236}">
                <a16:creationId xmlns:a16="http://schemas.microsoft.com/office/drawing/2014/main" id="{2A91B223-90B1-27AC-FF53-BD3EC470A271}"/>
              </a:ext>
            </a:extLst>
          </p:cNvPr>
          <p:cNvPicPr preferRelativeResize="0"/>
          <p:nvPr/>
        </p:nvPicPr>
        <p:blipFill rotWithShape="1">
          <a:blip r:embed="rId5">
            <a:alphaModFix/>
          </a:blip>
          <a:srcRect/>
          <a:stretch/>
        </p:blipFill>
        <p:spPr>
          <a:xfrm>
            <a:off x="878255" y="5147527"/>
            <a:ext cx="285750" cy="228600"/>
          </a:xfrm>
          <a:prstGeom prst="rect">
            <a:avLst/>
          </a:prstGeom>
          <a:noFill/>
          <a:ln>
            <a:noFill/>
          </a:ln>
        </p:spPr>
      </p:pic>
      <p:sp>
        <p:nvSpPr>
          <p:cNvPr id="5" name="Google Shape;210;p23">
            <a:extLst>
              <a:ext uri="{FF2B5EF4-FFF2-40B4-BE49-F238E27FC236}">
                <a16:creationId xmlns:a16="http://schemas.microsoft.com/office/drawing/2014/main" id="{7D62E4D4-661B-4785-71A7-8B754A691634}"/>
              </a:ext>
            </a:extLst>
          </p:cNvPr>
          <p:cNvSpPr txBox="1"/>
          <p:nvPr/>
        </p:nvSpPr>
        <p:spPr>
          <a:xfrm>
            <a:off x="1285975" y="5015605"/>
            <a:ext cx="8191500" cy="492443"/>
          </a:xfrm>
          <a:prstGeom prst="rect">
            <a:avLst/>
          </a:prstGeom>
          <a:noFill/>
          <a:ln>
            <a:noFill/>
          </a:ln>
        </p:spPr>
        <p:txBody>
          <a:bodyPr spcFirstLastPara="1" wrap="square" lIns="0" tIns="0" rIns="0" bIns="0" anchor="t" anchorCtr="0">
            <a:spAutoFit/>
          </a:bodyPr>
          <a:lstStyle/>
          <a:p>
            <a:pPr lvl="0"/>
            <a:r>
              <a:rPr lang="en-US" sz="1600" dirty="0">
                <a:latin typeface="Times New Roman" panose="02020603050405020304" pitchFamily="18" charset="0"/>
                <a:cs typeface="Times New Roman" panose="02020603050405020304" pitchFamily="18" charset="0"/>
              </a:rPr>
              <a:t>The university system must be updated and changed to facilitate students, as the current system is poor and lacks facilities.</a:t>
            </a:r>
          </a:p>
        </p:txBody>
      </p:sp>
    </p:spTree>
  </p:cSld>
  <p:clrMapOvr>
    <a:masterClrMapping/>
  </p:clrMapOvr>
  <mc:AlternateContent xmlns:mc="http://schemas.openxmlformats.org/markup-compatibility/2006">
    <mc:Choice xmlns:p14="http://schemas.microsoft.com/office/powerpoint/2010/main" Requires="p14">
      <p:transition spd="slow" p14:dur="175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90000"/>
            <a:alpha val="53000"/>
          </a:schemeClr>
        </a:solidFill>
        <a:effectLst/>
      </p:bgPr>
    </p:bg>
    <p:spTree>
      <p:nvGrpSpPr>
        <p:cNvPr id="1" name=""/>
        <p:cNvGrpSpPr/>
        <p:nvPr/>
      </p:nvGrpSpPr>
      <p:grpSpPr>
        <a:xfrm>
          <a:off x="0" y="0"/>
          <a:ext cx="0" cy="0"/>
          <a:chOff x="0" y="0"/>
          <a:chExt cx="0" cy="0"/>
        </a:xfrm>
      </p:grpSpPr>
      <p:sp>
        <p:nvSpPr>
          <p:cNvPr id="4" name="Google Shape;200;p22">
            <a:extLst>
              <a:ext uri="{FF2B5EF4-FFF2-40B4-BE49-F238E27FC236}">
                <a16:creationId xmlns:a16="http://schemas.microsoft.com/office/drawing/2014/main" id="{E107917C-2627-E32F-CD24-8588AC8F796A}"/>
              </a:ext>
            </a:extLst>
          </p:cNvPr>
          <p:cNvSpPr txBox="1"/>
          <p:nvPr/>
        </p:nvSpPr>
        <p:spPr>
          <a:xfrm>
            <a:off x="662940" y="480060"/>
            <a:ext cx="11601450"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5088"/>
                </a:solidFill>
                <a:latin typeface="Times New Roman" panose="02020603050405020304" pitchFamily="18" charset="0"/>
                <a:ea typeface="Merriweather"/>
                <a:cs typeface="Times New Roman" panose="02020603050405020304" pitchFamily="18" charset="0"/>
                <a:sym typeface="Merriweather"/>
              </a:rPr>
              <a:t>Conclusion</a:t>
            </a:r>
            <a:endParaRPr>
              <a:latin typeface="Times New Roman" panose="02020603050405020304" pitchFamily="18" charset="0"/>
              <a:cs typeface="Times New Roman" panose="02020603050405020304" pitchFamily="18" charset="0"/>
            </a:endParaRPr>
          </a:p>
        </p:txBody>
      </p:sp>
      <p:sp>
        <p:nvSpPr>
          <p:cNvPr id="5" name="Google Shape;197;p22">
            <a:extLst>
              <a:ext uri="{FF2B5EF4-FFF2-40B4-BE49-F238E27FC236}">
                <a16:creationId xmlns:a16="http://schemas.microsoft.com/office/drawing/2014/main" id="{64630FDE-A786-123A-1537-9EDF88867BF0}"/>
              </a:ext>
            </a:extLst>
          </p:cNvPr>
          <p:cNvSpPr txBox="1"/>
          <p:nvPr/>
        </p:nvSpPr>
        <p:spPr>
          <a:xfrm>
            <a:off x="2057400" y="2351782"/>
            <a:ext cx="8077200" cy="2154436"/>
          </a:xfrm>
          <a:prstGeom prst="rect">
            <a:avLst/>
          </a:prstGeom>
          <a:noFill/>
          <a:ln>
            <a:noFill/>
          </a:ln>
        </p:spPr>
        <p:txBody>
          <a:bodyPr spcFirstLastPara="1" wrap="square" lIns="0" tIns="0" rIns="0" bIns="0" anchor="t" anchorCtr="0">
            <a:spAutoFit/>
          </a:bodyPr>
          <a:lstStyle/>
          <a:p>
            <a:pPr lvl="0" algn="just">
              <a:lnSpc>
                <a:spcPct val="139962"/>
              </a:lnSpc>
            </a:pPr>
            <a:r>
              <a:rPr lang="en-US" sz="2000" dirty="0">
                <a:latin typeface="Times New Roman" panose="02020603050405020304" pitchFamily="18" charset="0"/>
                <a:cs typeface="Times New Roman" panose="02020603050405020304" pitchFamily="18" charset="0"/>
              </a:rPr>
              <a:t>The survey concludes that freshers struggle mainly due to academic overload and administrative inefficiencies, which together create high stress for about 60% of students. Since the cohort is academically strong, the institution should reduce structural barriers and provide support such as study-skills workshops and an improved campus environment to ease the transition.</a:t>
            </a:r>
          </a:p>
        </p:txBody>
      </p:sp>
      <p:sp>
        <p:nvSpPr>
          <p:cNvPr id="6" name="Rectangle 5">
            <a:extLst>
              <a:ext uri="{FF2B5EF4-FFF2-40B4-BE49-F238E27FC236}">
                <a16:creationId xmlns:a16="http://schemas.microsoft.com/office/drawing/2014/main" id="{4AF8531A-6E6E-4DF0-19FB-C9F9343B4747}"/>
              </a:ext>
            </a:extLst>
          </p:cNvPr>
          <p:cNvSpPr/>
          <p:nvPr/>
        </p:nvSpPr>
        <p:spPr>
          <a:xfrm>
            <a:off x="1564957" y="2043791"/>
            <a:ext cx="49244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p>
        </p:txBody>
      </p:sp>
      <p:sp>
        <p:nvSpPr>
          <p:cNvPr id="7" name="Rectangle 6">
            <a:extLst>
              <a:ext uri="{FF2B5EF4-FFF2-40B4-BE49-F238E27FC236}">
                <a16:creationId xmlns:a16="http://schemas.microsoft.com/office/drawing/2014/main" id="{2C1D913D-B711-F255-60F9-19460C42782A}"/>
              </a:ext>
            </a:extLst>
          </p:cNvPr>
          <p:cNvSpPr/>
          <p:nvPr/>
        </p:nvSpPr>
        <p:spPr>
          <a:xfrm>
            <a:off x="8227886" y="4125575"/>
            <a:ext cx="492443" cy="923330"/>
          </a:xfrm>
          <a:prstGeom prst="rect">
            <a:avLst/>
          </a:prstGeom>
          <a:noFill/>
        </p:spPr>
        <p:txBody>
          <a:bodyPr wrap="none" lIns="91440" tIns="45720" rIns="91440" bIns="45720">
            <a:spAutoFit/>
          </a:bodyPr>
          <a:lstStyle/>
          <a:p>
            <a:pPr algn="ctr"/>
            <a:r>
              <a:rPr lang="en-US" sz="54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t>
            </a:r>
            <a:endParaRPr lang="en-US" sz="54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396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0DF"/>
        </a:solidFill>
        <a:effectLst/>
      </p:bgPr>
    </p:bg>
    <p:spTree>
      <p:nvGrpSpPr>
        <p:cNvPr id="1" name="Shape 220"/>
        <p:cNvGrpSpPr/>
        <p:nvPr/>
      </p:nvGrpSpPr>
      <p:grpSpPr>
        <a:xfrm>
          <a:off x="0" y="0"/>
          <a:ext cx="0" cy="0"/>
          <a:chOff x="0" y="0"/>
          <a:chExt cx="0" cy="0"/>
        </a:xfrm>
      </p:grpSpPr>
      <p:pic>
        <p:nvPicPr>
          <p:cNvPr id="2" name="Picture 1" descr="A white rectangular frame with blue border&#10;&#10;AI-generated content may be incorrect.">
            <a:extLst>
              <a:ext uri="{FF2B5EF4-FFF2-40B4-BE49-F238E27FC236}">
                <a16:creationId xmlns:a16="http://schemas.microsoft.com/office/drawing/2014/main" id="{95100A3B-524C-BEC7-015D-98D9B52A3726}"/>
              </a:ext>
            </a:extLst>
          </p:cNvPr>
          <p:cNvPicPr>
            <a:picLocks noChangeAspect="1"/>
          </p:cNvPicPr>
          <p:nvPr/>
        </p:nvPicPr>
        <p:blipFill>
          <a:blip r:embed="rId3"/>
          <a:stretch>
            <a:fillRect/>
          </a:stretch>
        </p:blipFill>
        <p:spPr>
          <a:xfrm>
            <a:off x="0" y="-1"/>
            <a:ext cx="12192000" cy="6856463"/>
          </a:xfrm>
          <a:prstGeom prst="rect">
            <a:avLst/>
          </a:prstGeom>
        </p:spPr>
      </p:pic>
      <p:sp>
        <p:nvSpPr>
          <p:cNvPr id="222" name="Google Shape;222;p24"/>
          <p:cNvSpPr txBox="1"/>
          <p:nvPr/>
        </p:nvSpPr>
        <p:spPr>
          <a:xfrm>
            <a:off x="295275" y="2815018"/>
            <a:ext cx="11601450" cy="92333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dirty="0">
                <a:solidFill>
                  <a:srgbClr val="005088"/>
                </a:solidFill>
                <a:latin typeface="Times New Roman" panose="02020603050405020304" pitchFamily="18" charset="0"/>
                <a:ea typeface="Merriweather"/>
                <a:cs typeface="Times New Roman" panose="02020603050405020304" pitchFamily="18" charset="0"/>
                <a:sym typeface="Merriweather"/>
              </a:rPr>
              <a:t>Thank You</a:t>
            </a: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500">
        <p15:prstTrans prst="drap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288</TotalTime>
  <Words>726</Words>
  <Application>Microsoft Office PowerPoint</Application>
  <PresentationFormat>Widescreen</PresentationFormat>
  <Paragraphs>90</Paragraphs>
  <Slides>14</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DM Sans</vt:lpstr>
      <vt:lpstr>Inter</vt:lpstr>
      <vt:lpstr>Inter Bold</vt:lpstr>
      <vt:lpstr>Inter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Hamza Qamar</dc:creator>
  <cp:lastModifiedBy>Muhammad Hamza Qamar</cp:lastModifiedBy>
  <cp:revision>26</cp:revision>
  <dcterms:modified xsi:type="dcterms:W3CDTF">2025-11-19T15:49:27Z</dcterms:modified>
</cp:coreProperties>
</file>